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handoutMasterIdLst>
    <p:handoutMasterId r:id="rId25"/>
  </p:handoutMasterIdLst>
  <p:sldIdLst>
    <p:sldId id="285" r:id="rId2"/>
    <p:sldId id="284" r:id="rId3"/>
    <p:sldId id="262" r:id="rId4"/>
    <p:sldId id="270" r:id="rId5"/>
    <p:sldId id="271" r:id="rId6"/>
    <p:sldId id="280" r:id="rId7"/>
    <p:sldId id="281" r:id="rId8"/>
    <p:sldId id="282" r:id="rId9"/>
    <p:sldId id="283" r:id="rId10"/>
    <p:sldId id="279" r:id="rId11"/>
    <p:sldId id="273" r:id="rId12"/>
    <p:sldId id="265" r:id="rId13"/>
    <p:sldId id="274" r:id="rId14"/>
    <p:sldId id="278" r:id="rId15"/>
    <p:sldId id="269" r:id="rId16"/>
    <p:sldId id="263" r:id="rId17"/>
    <p:sldId id="266" r:id="rId18"/>
    <p:sldId id="264" r:id="rId19"/>
    <p:sldId id="260" r:id="rId20"/>
    <p:sldId id="277" r:id="rId21"/>
    <p:sldId id="275" r:id="rId22"/>
    <p:sldId id="27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4628"/>
    <a:srgbClr val="21314D"/>
    <a:srgbClr val="92A2BD"/>
    <a:srgbClr val="CED5DD"/>
    <a:srgbClr val="263F6A"/>
    <a:srgbClr val="8B8D8E"/>
    <a:srgbClr val="B2B4B3"/>
    <a:srgbClr val="DD5F36"/>
    <a:srgbClr val="D2492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D5037F-6817-4CDC-9D1B-1737F85B6264}" v="7" dt="2025-10-30T01:25:00.5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535"/>
    <p:restoredTop sz="82921"/>
  </p:normalViewPr>
  <p:slideViewPr>
    <p:cSldViewPr snapToGrid="0" snapToObjects="1">
      <p:cViewPr>
        <p:scale>
          <a:sx n="53" d="100"/>
          <a:sy n="53" d="100"/>
        </p:scale>
        <p:origin x="1491" y="258"/>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napToObjects="1" showGuides="1">
      <p:cViewPr varScale="1">
        <p:scale>
          <a:sx n="168" d="100"/>
          <a:sy n="168" d="100"/>
        </p:scale>
        <p:origin x="3688" y="2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x smith" userId="b8c19ce47d83ea0e" providerId="LiveId" clId="{B9D70B7C-4797-4752-AA6E-1BEF31BB8FD0}"/>
    <pc:docChg chg="custSel addSld delSld modSld sldOrd">
      <pc:chgData name="max smith" userId="b8c19ce47d83ea0e" providerId="LiveId" clId="{B9D70B7C-4797-4752-AA6E-1BEF31BB8FD0}" dt="2025-10-30T01:25:00.536" v="451"/>
      <pc:docMkLst>
        <pc:docMk/>
      </pc:docMkLst>
      <pc:sldChg chg="addSp delSp modSp add mod">
        <pc:chgData name="max smith" userId="b8c19ce47d83ea0e" providerId="LiveId" clId="{B9D70B7C-4797-4752-AA6E-1BEF31BB8FD0}" dt="2025-10-30T01:25:00.536" v="451"/>
        <pc:sldMkLst>
          <pc:docMk/>
          <pc:sldMk cId="3574557438" sldId="284"/>
        </pc:sldMkLst>
        <pc:spChg chg="mod">
          <ac:chgData name="max smith" userId="b8c19ce47d83ea0e" providerId="LiveId" clId="{B9D70B7C-4797-4752-AA6E-1BEF31BB8FD0}" dt="2025-10-30T01:17:26.341" v="214" actId="20577"/>
          <ac:spMkLst>
            <pc:docMk/>
            <pc:sldMk cId="3574557438" sldId="284"/>
            <ac:spMk id="2" creationId="{7B1DD780-3057-A8C7-AEAF-54A837EB4AD9}"/>
          </ac:spMkLst>
        </pc:spChg>
        <pc:spChg chg="mod">
          <ac:chgData name="max smith" userId="b8c19ce47d83ea0e" providerId="LiveId" clId="{B9D70B7C-4797-4752-AA6E-1BEF31BB8FD0}" dt="2025-10-30T01:23:32.261" v="448" actId="20577"/>
          <ac:spMkLst>
            <pc:docMk/>
            <pc:sldMk cId="3574557438" sldId="284"/>
            <ac:spMk id="4" creationId="{FD19CB6D-6BC5-4B4A-C10D-8564A5F5B011}"/>
          </ac:spMkLst>
        </pc:spChg>
        <pc:spChg chg="add del mod">
          <ac:chgData name="max smith" userId="b8c19ce47d83ea0e" providerId="LiveId" clId="{B9D70B7C-4797-4752-AA6E-1BEF31BB8FD0}" dt="2025-10-30T01:25:00.536" v="451"/>
          <ac:spMkLst>
            <pc:docMk/>
            <pc:sldMk cId="3574557438" sldId="284"/>
            <ac:spMk id="5" creationId="{2F4421AD-810F-68BD-3B23-2192128ADF58}"/>
          </ac:spMkLst>
        </pc:spChg>
        <pc:picChg chg="del">
          <ac:chgData name="max smith" userId="b8c19ce47d83ea0e" providerId="LiveId" clId="{B9D70B7C-4797-4752-AA6E-1BEF31BB8FD0}" dt="2025-10-30T01:24:54.355" v="450" actId="478"/>
          <ac:picMkLst>
            <pc:docMk/>
            <pc:sldMk cId="3574557438" sldId="284"/>
            <ac:picMk id="6" creationId="{38503C78-8373-1444-9545-23B8992131A0}"/>
          </ac:picMkLst>
        </pc:picChg>
        <pc:picChg chg="add">
          <ac:chgData name="max smith" userId="b8c19ce47d83ea0e" providerId="LiveId" clId="{B9D70B7C-4797-4752-AA6E-1BEF31BB8FD0}" dt="2025-10-30T01:24:49.580" v="449"/>
          <ac:picMkLst>
            <pc:docMk/>
            <pc:sldMk cId="3574557438" sldId="284"/>
            <ac:picMk id="1026" creationId="{99D1088A-6548-64A9-27A5-DD23613CE044}"/>
          </ac:picMkLst>
        </pc:picChg>
        <pc:picChg chg="add mod">
          <ac:chgData name="max smith" userId="b8c19ce47d83ea0e" providerId="LiveId" clId="{B9D70B7C-4797-4752-AA6E-1BEF31BB8FD0}" dt="2025-10-30T01:25:00.536" v="451"/>
          <ac:picMkLst>
            <pc:docMk/>
            <pc:sldMk cId="3574557438" sldId="284"/>
            <ac:picMk id="1028" creationId="{F96B2469-2515-7625-DAE3-6B52400FF6A6}"/>
          </ac:picMkLst>
        </pc:picChg>
      </pc:sldChg>
      <pc:sldChg chg="add del ord">
        <pc:chgData name="max smith" userId="b8c19ce47d83ea0e" providerId="LiveId" clId="{B9D70B7C-4797-4752-AA6E-1BEF31BB8FD0}" dt="2025-10-30T01:15:15.204" v="4" actId="47"/>
        <pc:sldMkLst>
          <pc:docMk/>
          <pc:sldMk cId="118635861" sldId="285"/>
        </pc:sldMkLst>
      </pc:sldChg>
      <pc:sldChg chg="modSp add mod ord">
        <pc:chgData name="max smith" userId="b8c19ce47d83ea0e" providerId="LiveId" clId="{B9D70B7C-4797-4752-AA6E-1BEF31BB8FD0}" dt="2025-10-30T01:16:56.642" v="204" actId="20577"/>
        <pc:sldMkLst>
          <pc:docMk/>
          <pc:sldMk cId="2727822152" sldId="285"/>
        </pc:sldMkLst>
        <pc:spChg chg="mod">
          <ac:chgData name="max smith" userId="b8c19ce47d83ea0e" providerId="LiveId" clId="{B9D70B7C-4797-4752-AA6E-1BEF31BB8FD0}" dt="2025-10-30T01:16:30.974" v="130" actId="27636"/>
          <ac:spMkLst>
            <pc:docMk/>
            <pc:sldMk cId="2727822152" sldId="285"/>
            <ac:spMk id="2" creationId="{C9DFE8E6-B945-FE6D-5FB2-788A21230F75}"/>
          </ac:spMkLst>
        </pc:spChg>
        <pc:spChg chg="mod">
          <ac:chgData name="max smith" userId="b8c19ce47d83ea0e" providerId="LiveId" clId="{B9D70B7C-4797-4752-AA6E-1BEF31BB8FD0}" dt="2025-10-30T01:16:56.642" v="204" actId="20577"/>
          <ac:spMkLst>
            <pc:docMk/>
            <pc:sldMk cId="2727822152" sldId="285"/>
            <ac:spMk id="3" creationId="{2D9CD58B-68B9-1271-3C6C-537C51EFBFA3}"/>
          </ac:spMkLst>
        </pc:spChg>
      </pc:sldChg>
      <pc:sldChg chg="add del ord">
        <pc:chgData name="max smith" userId="b8c19ce47d83ea0e" providerId="LiveId" clId="{B9D70B7C-4797-4752-AA6E-1BEF31BB8FD0}" dt="2025-10-30T01:15:21.961" v="8" actId="47"/>
        <pc:sldMkLst>
          <pc:docMk/>
          <pc:sldMk cId="3617817113" sldId="28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4DD5C9C-88A3-CA43-B162-DCC4E1E4BE7D}" type="datetimeFigureOut">
              <a:rPr lang="en-US" smtClean="0"/>
              <a:t>10/29/2025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B5FE5E8-0999-F94A-9937-3F8545B10484}" type="slidenum">
              <a:rPr lang="en-US" smtClean="0"/>
              <a:t>‹#›</a:t>
            </a:fld>
            <a:endParaRPr lang="en-US"/>
          </a:p>
        </p:txBody>
      </p:sp>
    </p:spTree>
    <p:extLst>
      <p:ext uri="{BB962C8B-B14F-4D97-AF65-F5344CB8AC3E}">
        <p14:creationId xmlns:p14="http://schemas.microsoft.com/office/powerpoint/2010/main" val="17389103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B8ADC5-B0D3-B84C-BBB2-F6DD3574C56B}" type="datetimeFigureOut">
              <a:rPr lang="en-US" smtClean="0"/>
              <a:t>10/29/2025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F5240D-060A-3E4B-A797-4CE8C69AC4D3}" type="slidenum">
              <a:rPr lang="en-US" smtClean="0"/>
              <a:t>‹#›</a:t>
            </a:fld>
            <a:endParaRPr lang="en-US"/>
          </a:p>
        </p:txBody>
      </p:sp>
    </p:spTree>
    <p:extLst>
      <p:ext uri="{BB962C8B-B14F-4D97-AF65-F5344CB8AC3E}">
        <p14:creationId xmlns:p14="http://schemas.microsoft.com/office/powerpoint/2010/main" val="4079123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98E58-4A3C-8EED-761D-9F20A177BC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4AA2B0-155E-AF7A-5151-A27212EB56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EB92FE-01C9-3AB5-8039-EB20CDC5BA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D9C3BA-2B6F-52E9-DF66-612D79736B2F}"/>
              </a:ext>
            </a:extLst>
          </p:cNvPr>
          <p:cNvSpPr>
            <a:spLocks noGrp="1"/>
          </p:cNvSpPr>
          <p:nvPr>
            <p:ph type="sldNum" sz="quarter" idx="5"/>
          </p:nvPr>
        </p:nvSpPr>
        <p:spPr/>
        <p:txBody>
          <a:bodyPr/>
          <a:lstStyle/>
          <a:p>
            <a:fld id="{02F5240D-060A-3E4B-A797-4CE8C69AC4D3}" type="slidenum">
              <a:rPr lang="en-US" smtClean="0"/>
              <a:t>1</a:t>
            </a:fld>
            <a:endParaRPr lang="en-US"/>
          </a:p>
        </p:txBody>
      </p:sp>
    </p:spTree>
    <p:extLst>
      <p:ext uri="{BB962C8B-B14F-4D97-AF65-F5344CB8AC3E}">
        <p14:creationId xmlns:p14="http://schemas.microsoft.com/office/powerpoint/2010/main" val="1218899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64DD7-D48F-C019-B19A-F52E18484C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9EE2A1-4CE8-8FC5-702F-54E74D1E8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A27622-6808-99BE-1C80-2E0E18FBEE2A}"/>
              </a:ext>
            </a:extLst>
          </p:cNvPr>
          <p:cNvSpPr>
            <a:spLocks noGrp="1"/>
          </p:cNvSpPr>
          <p:nvPr>
            <p:ph type="body" idx="1"/>
          </p:nvPr>
        </p:nvSpPr>
        <p:spPr/>
        <p:txBody>
          <a:bodyPr/>
          <a:lstStyle/>
          <a:p>
            <a:r>
              <a:rPr lang="en-US" dirty="0"/>
              <a:t>Pick and choose your facts:</a:t>
            </a:r>
            <a:br>
              <a:rPr lang="en-US" dirty="0"/>
            </a:br>
            <a:endParaRPr lang="en-US" dirty="0">
              <a:cs typeface="Calibri"/>
            </a:endParaRPr>
          </a:p>
          <a:p>
            <a:pPr marL="171450" indent="-171450">
              <a:buFont typeface="Arial"/>
              <a:buChar char="•"/>
            </a:pPr>
            <a:r>
              <a:rPr lang="en-US" dirty="0"/>
              <a:t>Enjoy 45+ restaurants, 14 coffee shops and bakeries and 3 grocery stores within walking distance of campus</a:t>
            </a:r>
            <a:endParaRPr lang="en-US" dirty="0">
              <a:cs typeface="Calibri" panose="020F0502020204030204"/>
            </a:endParaRPr>
          </a:p>
          <a:p>
            <a:pPr marL="171450" indent="-171450">
              <a:buFont typeface="Arial"/>
              <a:buChar char="•"/>
            </a:pPr>
            <a:r>
              <a:rPr lang="en-US" dirty="0"/>
              <a:t>Discover 25+ hiking trails in the Golden community</a:t>
            </a:r>
          </a:p>
          <a:p>
            <a:pPr marL="171450" indent="-171450">
              <a:buFont typeface="Arial"/>
              <a:buChar char="•"/>
            </a:pPr>
            <a:r>
              <a:rPr lang="en-US" dirty="0"/>
              <a:t>Explore 20+ museums and cultural icons in the Denver Metro area and beyond</a:t>
            </a:r>
          </a:p>
          <a:p>
            <a:pPr marL="171450" indent="-171450">
              <a:buFont typeface="Arial"/>
              <a:buChar char="•"/>
            </a:pPr>
            <a:r>
              <a:rPr lang="en-US" dirty="0">
                <a:cs typeface="Calibri" panose="020F0502020204030204"/>
              </a:rPr>
              <a:t>12 ski resorts within one hour</a:t>
            </a:r>
          </a:p>
          <a:p>
            <a:endParaRPr lang="en-US" dirty="0"/>
          </a:p>
        </p:txBody>
      </p:sp>
      <p:sp>
        <p:nvSpPr>
          <p:cNvPr id="4" name="Slide Number Placeholder 3">
            <a:extLst>
              <a:ext uri="{FF2B5EF4-FFF2-40B4-BE49-F238E27FC236}">
                <a16:creationId xmlns:a16="http://schemas.microsoft.com/office/drawing/2014/main" id="{1E203A40-376D-035B-7516-4B29E3169C91}"/>
              </a:ext>
            </a:extLst>
          </p:cNvPr>
          <p:cNvSpPr>
            <a:spLocks noGrp="1"/>
          </p:cNvSpPr>
          <p:nvPr>
            <p:ph type="sldNum" sz="quarter" idx="5"/>
          </p:nvPr>
        </p:nvSpPr>
        <p:spPr/>
        <p:txBody>
          <a:bodyPr/>
          <a:lstStyle/>
          <a:p>
            <a:fld id="{02F5240D-060A-3E4B-A797-4CE8C69AC4D3}" type="slidenum">
              <a:rPr lang="en-US" smtClean="0"/>
              <a:t>2</a:t>
            </a:fld>
            <a:endParaRPr lang="en-US"/>
          </a:p>
        </p:txBody>
      </p:sp>
    </p:spTree>
    <p:extLst>
      <p:ext uri="{BB962C8B-B14F-4D97-AF65-F5344CB8AC3E}">
        <p14:creationId xmlns:p14="http://schemas.microsoft.com/office/powerpoint/2010/main" val="39853061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F5240D-060A-3E4B-A797-4CE8C69AC4D3}" type="slidenum">
              <a:rPr lang="en-US" smtClean="0"/>
              <a:t>3</a:t>
            </a:fld>
            <a:endParaRPr lang="en-US"/>
          </a:p>
        </p:txBody>
      </p:sp>
    </p:spTree>
    <p:extLst>
      <p:ext uri="{BB962C8B-B14F-4D97-AF65-F5344CB8AC3E}">
        <p14:creationId xmlns:p14="http://schemas.microsoft.com/office/powerpoint/2010/main" val="24794780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dirty="0"/>
              <a:t>Pick and choose your facts:</a:t>
            </a:r>
          </a:p>
          <a:p>
            <a:pPr marL="0" lvl="0" indent="0" algn="l" rtl="0">
              <a:spcBef>
                <a:spcPts val="0"/>
              </a:spcBef>
              <a:spcAft>
                <a:spcPts val="0"/>
              </a:spcAft>
              <a:buNone/>
            </a:pPr>
            <a:endParaRPr lang="en-US" dirty="0"/>
          </a:p>
          <a:p>
            <a:pPr marL="171450" indent="-171450">
              <a:buFont typeface="Arial" panose="020B0604020202020204" pitchFamily="34" charset="0"/>
              <a:buChar char="•"/>
            </a:pPr>
            <a:r>
              <a:rPr lang="en-US" dirty="0"/>
              <a:t>30,000+ Mines alumni </a:t>
            </a:r>
            <a:endParaRPr lang="en-US" dirty="0">
              <a:cs typeface="Calibri"/>
            </a:endParaRPr>
          </a:p>
          <a:p>
            <a:pPr marL="171450" indent="-171450">
              <a:buFont typeface="Arial" panose="020B0604020202020204" pitchFamily="34" charset="0"/>
              <a:buChar char="•"/>
            </a:pPr>
            <a:r>
              <a:rPr lang="en-US" dirty="0"/>
              <a:t>$106M in total research awards during fiscal year 2024</a:t>
            </a:r>
            <a:endParaRPr lang="en-US" dirty="0">
              <a:cs typeface="Calibri"/>
            </a:endParaRPr>
          </a:p>
          <a:p>
            <a:pPr marL="171450" indent="-171450">
              <a:buFont typeface="Arial" panose="020B0604020202020204" pitchFamily="34" charset="0"/>
              <a:buChar char="•"/>
            </a:pPr>
            <a:r>
              <a:rPr lang="en-US" dirty="0"/>
              <a:t>18 intercollegiate varsity athletics teams </a:t>
            </a:r>
            <a:endParaRPr lang="en-US" dirty="0">
              <a:cs typeface="Calibri"/>
            </a:endParaRPr>
          </a:p>
          <a:p>
            <a:pPr marL="171450" lvl="0" indent="-171450" algn="l" rtl="0">
              <a:spcBef>
                <a:spcPts val="0"/>
              </a:spcBef>
              <a:spcAft>
                <a:spcPts val="0"/>
              </a:spcAft>
              <a:buFont typeface="Arial" panose="020B0604020202020204" pitchFamily="34" charset="0"/>
              <a:buChar char="•"/>
            </a:pPr>
            <a:r>
              <a:rPr lang="en-US" sz="1800" b="0" dirty="0">
                <a:effectLst/>
                <a:latin typeface="HalyardText"/>
              </a:rPr>
              <a:t>200+ </a:t>
            </a:r>
            <a:r>
              <a:rPr lang="en-US" sz="1800" dirty="0">
                <a:effectLst/>
                <a:latin typeface="HalyardTextBook"/>
              </a:rPr>
              <a:t>student-led organizations to choose from</a:t>
            </a:r>
          </a:p>
          <a:p>
            <a:pPr marL="171450" indent="-171450">
              <a:buClr>
                <a:srgbClr val="000000"/>
              </a:buClr>
              <a:buSzPts val="1400"/>
              <a:buFont typeface="Arial" panose="020B0604020202020204" pitchFamily="34" charset="0"/>
              <a:buChar char="•"/>
              <a:defRPr/>
            </a:pPr>
            <a:r>
              <a:rPr lang="en-US" dirty="0"/>
              <a:t>An R1 “very high research activity” institution </a:t>
            </a:r>
            <a:endParaRPr lang="en-US" dirty="0">
              <a:cs typeface="Calibri"/>
            </a:endParaRPr>
          </a:p>
          <a:p>
            <a:pPr marL="171450" indent="-171450">
              <a:buClr>
                <a:srgbClr val="000000"/>
              </a:buClr>
              <a:buSzPts val="1400"/>
              <a:buFont typeface="Arial" panose="020B0604020202020204" pitchFamily="34" charset="0"/>
              <a:buChar char="•"/>
            </a:pPr>
            <a:r>
              <a:rPr lang="en-US" dirty="0">
                <a:solidFill>
                  <a:srgbClr val="2B2B2B"/>
                </a:solidFill>
                <a:latin typeface="Lato"/>
                <a:ea typeface="Lato"/>
                <a:cs typeface="Lato"/>
              </a:rPr>
              <a:t>767 organizations posted 3,282 jobs in </a:t>
            </a:r>
            <a:r>
              <a:rPr lang="en-US" dirty="0" err="1">
                <a:solidFill>
                  <a:srgbClr val="2B2B2B"/>
                </a:solidFill>
                <a:latin typeface="Lato"/>
                <a:ea typeface="Lato"/>
                <a:cs typeface="Lato"/>
              </a:rPr>
              <a:t>Diggernet</a:t>
            </a:r>
            <a:endParaRPr lang="en-US" dirty="0">
              <a:solidFill>
                <a:srgbClr val="2B2B2B"/>
              </a:solidFill>
              <a:latin typeface="Lato"/>
              <a:ea typeface="Lato"/>
              <a:cs typeface="Lato"/>
            </a:endParaRPr>
          </a:p>
          <a:p>
            <a:pPr marL="171450" lvl="0" indent="-171450" algn="l" rtl="0">
              <a:spcBef>
                <a:spcPts val="0"/>
              </a:spcBef>
              <a:spcAft>
                <a:spcPts val="0"/>
              </a:spcAft>
              <a:buFont typeface="Arial" panose="020B0604020202020204" pitchFamily="34" charset="0"/>
              <a:buChar char="•"/>
            </a:pPr>
            <a:r>
              <a:rPr lang="en-US" dirty="0"/>
              <a:t>Top 40 public university, as ranked by U.S. News &amp; World Report</a:t>
            </a:r>
            <a:endParaRPr lang="en-US" dirty="0">
              <a:cs typeface="Calibri"/>
            </a:endParaRPr>
          </a:p>
          <a:p>
            <a:pPr marL="171450" lvl="0" indent="-171450" algn="l" rtl="0">
              <a:spcBef>
                <a:spcPts val="0"/>
              </a:spcBef>
              <a:spcAft>
                <a:spcPts val="0"/>
              </a:spcAft>
              <a:buFont typeface="Arial" panose="020B0604020202020204" pitchFamily="34" charset="0"/>
              <a:buChar char="•"/>
            </a:pPr>
            <a:r>
              <a:rPr lang="en-US" dirty="0"/>
              <a:t>Top 10 graduate programs in the country for Petroleum Engineering, Geophysics, Geology, as ranked by U.S. News &amp; World Report</a:t>
            </a:r>
            <a:endParaRPr lang="en-US" dirty="0">
              <a:cs typeface="Calibri"/>
            </a:endParaRPr>
          </a:p>
          <a:p>
            <a:pPr marL="171450" lvl="0" indent="-171450" algn="l" rtl="0">
              <a:spcBef>
                <a:spcPts val="0"/>
              </a:spcBef>
              <a:spcAft>
                <a:spcPts val="0"/>
              </a:spcAft>
              <a:buFont typeface="Arial" panose="020B0604020202020204" pitchFamily="34" charset="0"/>
              <a:buChar char="•"/>
            </a:pPr>
            <a:r>
              <a:rPr lang="en-US" dirty="0"/>
              <a:t>199 Academic All-Americans in Mines history – the most by any NCAA Division II institution</a:t>
            </a:r>
            <a:endParaRPr lang="en-US" dirty="0">
              <a:cs typeface="Calibri"/>
            </a:endParaRPr>
          </a:p>
          <a:p>
            <a:pPr marL="171450" lvl="0" indent="-171450" algn="l" rtl="0">
              <a:spcBef>
                <a:spcPts val="0"/>
              </a:spcBef>
              <a:spcAft>
                <a:spcPts val="0"/>
              </a:spcAft>
              <a:buFont typeface="Arial" panose="020B0604020202020204" pitchFamily="34" charset="0"/>
              <a:buChar char="•"/>
            </a:pPr>
            <a:endParaRPr lang="en-US" b="0" i="0" u="none" strike="noStrike" dirty="0">
              <a:solidFill>
                <a:srgbClr val="2B2B2B"/>
              </a:solidFill>
              <a:effectLst/>
              <a:latin typeface="Lato" panose="020F0502020204030203" pitchFamily="34" charset="0"/>
            </a:endParaRPr>
          </a:p>
          <a:p>
            <a:pPr marL="0" lvl="0" indent="0" algn="l" rtl="0">
              <a:spcBef>
                <a:spcPts val="0"/>
              </a:spcBef>
              <a:spcAft>
                <a:spcPts val="0"/>
              </a:spcAft>
              <a:buFont typeface="Arial" panose="020B0604020202020204" pitchFamily="34" charset="0"/>
              <a:buNone/>
            </a:pPr>
            <a:r>
              <a:rPr lang="en-US" b="0" i="0" u="none" strike="noStrike" dirty="0">
                <a:solidFill>
                  <a:srgbClr val="2B2B2B"/>
                </a:solidFill>
                <a:effectLst/>
                <a:latin typeface="Lato"/>
                <a:ea typeface="Lato"/>
                <a:cs typeface="Lato"/>
              </a:rPr>
              <a:t>For the latest rankings, visit: https://</a:t>
            </a:r>
            <a:r>
              <a:rPr lang="en-US" b="0" i="0" u="none" strike="noStrike" dirty="0" err="1">
                <a:solidFill>
                  <a:srgbClr val="2B2B2B"/>
                </a:solidFill>
                <a:effectLst/>
                <a:latin typeface="Lato"/>
                <a:ea typeface="Lato"/>
                <a:cs typeface="Lato"/>
              </a:rPr>
              <a:t>www.mines.edu</a:t>
            </a:r>
            <a:r>
              <a:rPr lang="en-US" b="0" i="0" u="none" strike="noStrike" dirty="0">
                <a:solidFill>
                  <a:srgbClr val="2B2B2B"/>
                </a:solidFill>
                <a:effectLst/>
                <a:latin typeface="Lato"/>
                <a:ea typeface="Lato"/>
                <a:cs typeface="Lato"/>
              </a:rPr>
              <a:t>/rankings</a:t>
            </a:r>
          </a:p>
          <a:p>
            <a:endParaRPr lang="en-US" dirty="0"/>
          </a:p>
        </p:txBody>
      </p:sp>
      <p:sp>
        <p:nvSpPr>
          <p:cNvPr id="4" name="Slide Number Placeholder 3"/>
          <p:cNvSpPr>
            <a:spLocks noGrp="1"/>
          </p:cNvSpPr>
          <p:nvPr>
            <p:ph type="sldNum" sz="quarter" idx="5"/>
          </p:nvPr>
        </p:nvSpPr>
        <p:spPr/>
        <p:txBody>
          <a:bodyPr/>
          <a:lstStyle/>
          <a:p>
            <a:fld id="{02F5240D-060A-3E4B-A797-4CE8C69AC4D3}" type="slidenum">
              <a:rPr lang="en-US" smtClean="0"/>
              <a:t>7</a:t>
            </a:fld>
            <a:endParaRPr lang="en-US"/>
          </a:p>
        </p:txBody>
      </p:sp>
    </p:spTree>
    <p:extLst>
      <p:ext uri="{BB962C8B-B14F-4D97-AF65-F5344CB8AC3E}">
        <p14:creationId xmlns:p14="http://schemas.microsoft.com/office/powerpoint/2010/main" val="18742255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and choose your facts:</a:t>
            </a:r>
            <a:br>
              <a:rPr lang="en-US" dirty="0"/>
            </a:br>
            <a:endParaRPr lang="en-US" dirty="0">
              <a:cs typeface="Calibri"/>
            </a:endParaRPr>
          </a:p>
          <a:p>
            <a:pPr marL="171450" indent="-171450">
              <a:buFont typeface="Arial"/>
              <a:buChar char="•"/>
            </a:pPr>
            <a:r>
              <a:rPr lang="en-US" dirty="0"/>
              <a:t>Enjoy 45+ restaurants, 14 coffee shops and bakeries and 3 grocery stores within walking distance of campus</a:t>
            </a:r>
            <a:endParaRPr lang="en-US" dirty="0">
              <a:cs typeface="Calibri" panose="020F0502020204030204"/>
            </a:endParaRPr>
          </a:p>
          <a:p>
            <a:pPr marL="171450" indent="-171450">
              <a:buFont typeface="Arial"/>
              <a:buChar char="•"/>
            </a:pPr>
            <a:r>
              <a:rPr lang="en-US" dirty="0"/>
              <a:t>Discover 25+ hiking trails in the Golden community</a:t>
            </a:r>
          </a:p>
          <a:p>
            <a:pPr marL="171450" indent="-171450">
              <a:buFont typeface="Arial"/>
              <a:buChar char="•"/>
            </a:pPr>
            <a:r>
              <a:rPr lang="en-US" dirty="0"/>
              <a:t>Explore 20+ museums and cultural icons in the Denver Metro area and beyond</a:t>
            </a:r>
          </a:p>
          <a:p>
            <a:pPr marL="171450" indent="-171450">
              <a:buFont typeface="Arial"/>
              <a:buChar char="•"/>
            </a:pPr>
            <a:r>
              <a:rPr lang="en-US" dirty="0">
                <a:cs typeface="Calibri" panose="020F0502020204030204"/>
              </a:rPr>
              <a:t>12 ski resorts within one hour</a:t>
            </a:r>
          </a:p>
          <a:p>
            <a:endParaRPr lang="en-US" dirty="0"/>
          </a:p>
        </p:txBody>
      </p:sp>
      <p:sp>
        <p:nvSpPr>
          <p:cNvPr id="4" name="Slide Number Placeholder 3"/>
          <p:cNvSpPr>
            <a:spLocks noGrp="1"/>
          </p:cNvSpPr>
          <p:nvPr>
            <p:ph type="sldNum" sz="quarter" idx="5"/>
          </p:nvPr>
        </p:nvSpPr>
        <p:spPr/>
        <p:txBody>
          <a:bodyPr/>
          <a:lstStyle/>
          <a:p>
            <a:fld id="{02F5240D-060A-3E4B-A797-4CE8C69AC4D3}" type="slidenum">
              <a:rPr lang="en-US" smtClean="0"/>
              <a:t>8</a:t>
            </a:fld>
            <a:endParaRPr lang="en-US"/>
          </a:p>
        </p:txBody>
      </p:sp>
    </p:spTree>
    <p:extLst>
      <p:ext uri="{BB962C8B-B14F-4D97-AF65-F5344CB8AC3E}">
        <p14:creationId xmlns:p14="http://schemas.microsoft.com/office/powerpoint/2010/main" val="323109753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6" name="Picture 15"/>
          <p:cNvPicPr>
            <a:picLocks noChangeAspect="1"/>
          </p:cNvPicPr>
          <p:nvPr userDrawn="1"/>
        </p:nvPicPr>
        <p:blipFill>
          <a:blip r:embed="rId2" cstate="screen">
            <a:alphaModFix amt="25000"/>
            <a:extLst>
              <a:ext uri="{28A0092B-C50C-407E-A947-70E740481C1C}">
                <a14:useLocalDpi xmlns:a14="http://schemas.microsoft.com/office/drawing/2010/main"/>
              </a:ext>
            </a:extLst>
          </a:blip>
          <a:stretch>
            <a:fillRect/>
          </a:stretch>
        </p:blipFill>
        <p:spPr>
          <a:xfrm>
            <a:off x="1835085" y="170978"/>
            <a:ext cx="10356915" cy="5825765"/>
          </a:xfrm>
          <a:prstGeom prst="rect">
            <a:avLst/>
          </a:prstGeom>
        </p:spPr>
      </p:pic>
      <p:sp>
        <p:nvSpPr>
          <p:cNvPr id="21" name="Rectangle 20">
            <a:extLst>
              <a:ext uri="{FF2B5EF4-FFF2-40B4-BE49-F238E27FC236}">
                <a16:creationId xmlns:a16="http://schemas.microsoft.com/office/drawing/2014/main" id="{2DF55106-BA85-A046-A450-43480962F8F7}"/>
              </a:ext>
            </a:extLst>
          </p:cNvPr>
          <p:cNvSpPr/>
          <p:nvPr userDrawn="1"/>
        </p:nvSpPr>
        <p:spPr>
          <a:xfrm>
            <a:off x="-48638" y="-9728"/>
            <a:ext cx="12260094" cy="6265544"/>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5" name="Footer Placeholder 4"/>
          <p:cNvSpPr>
            <a:spLocks noGrp="1"/>
          </p:cNvSpPr>
          <p:nvPr>
            <p:ph type="ftr" sz="quarter" idx="11"/>
          </p:nvPr>
        </p:nvSpPr>
        <p:spPr>
          <a:xfrm>
            <a:off x="4782356" y="6356352"/>
            <a:ext cx="3371044" cy="382553"/>
          </a:xfrm>
          <a:prstGeom prst="rect">
            <a:avLst/>
          </a:prstGeom>
        </p:spPr>
        <p:txBody>
          <a:bodyPr/>
          <a:lstStyle/>
          <a:p>
            <a:endParaRPr lang="en-US" dirty="0"/>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12" name="Title 1"/>
          <p:cNvSpPr>
            <a:spLocks noGrp="1"/>
          </p:cNvSpPr>
          <p:nvPr>
            <p:ph type="ctrTitle"/>
          </p:nvPr>
        </p:nvSpPr>
        <p:spPr>
          <a:xfrm>
            <a:off x="395371" y="2243579"/>
            <a:ext cx="10803672" cy="719056"/>
          </a:xfrm>
        </p:spPr>
        <p:txBody>
          <a:bodyPr>
            <a:normAutofit/>
          </a:bodyPr>
          <a:lstStyle>
            <a:lvl1pPr>
              <a:defRPr b="1"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pPr algn="l"/>
            <a:r>
              <a:rPr lang="en-US" sz="5400" dirty="0">
                <a:solidFill>
                  <a:schemeClr val="bg1"/>
                </a:solidFill>
              </a:rPr>
              <a:t>Presentation Title Goes Here</a:t>
            </a:r>
          </a:p>
        </p:txBody>
      </p:sp>
      <p:cxnSp>
        <p:nvCxnSpPr>
          <p:cNvPr id="14" name="Straight Connector 13"/>
          <p:cNvCxnSpPr/>
          <p:nvPr userDrawn="1"/>
        </p:nvCxnSpPr>
        <p:spPr>
          <a:xfrm>
            <a:off x="520878" y="3287006"/>
            <a:ext cx="911199" cy="0"/>
          </a:xfrm>
          <a:prstGeom prst="line">
            <a:avLst/>
          </a:prstGeom>
          <a:ln w="28575">
            <a:solidFill>
              <a:srgbClr val="D2492A"/>
            </a:solidFill>
          </a:ln>
          <a:effectLst/>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78B3FD82-CB41-C84B-B706-06F09C4B7CF1}"/>
              </a:ext>
            </a:extLst>
          </p:cNvPr>
          <p:cNvSpPr txBox="1"/>
          <p:nvPr userDrawn="1"/>
        </p:nvSpPr>
        <p:spPr>
          <a:xfrm>
            <a:off x="7478040" y="6407925"/>
            <a:ext cx="4489537" cy="369332"/>
          </a:xfrm>
          <a:prstGeom prst="rect">
            <a:avLst/>
          </a:prstGeom>
          <a:noFill/>
        </p:spPr>
        <p:txBody>
          <a:bodyPr wrap="square" rtlCol="0">
            <a:spAutoFit/>
          </a:bodyPr>
          <a:lstStyle/>
          <a:p>
            <a:pPr algn="r"/>
            <a:r>
              <a:rPr lang="en-US" sz="1800" b="1" i="0" dirty="0">
                <a:solidFill>
                  <a:srgbClr val="21314D"/>
                </a:solidFill>
                <a:latin typeface="Arial" panose="020B0604020202020204" pitchFamily="34" charset="0"/>
                <a:ea typeface="Gotham Bold" charset="0"/>
                <a:cs typeface="Arial" panose="020B0604020202020204" pitchFamily="34" charset="0"/>
              </a:rPr>
              <a:t>MINES</a:t>
            </a:r>
            <a:r>
              <a:rPr lang="en-US" sz="1800" b="1" i="0" dirty="0">
                <a:solidFill>
                  <a:srgbClr val="D2492A"/>
                </a:solidFill>
                <a:latin typeface="Arial" panose="020B0604020202020204" pitchFamily="34" charset="0"/>
                <a:ea typeface="Gotham Bold" charset="0"/>
                <a:cs typeface="Arial" panose="020B0604020202020204" pitchFamily="34" charset="0"/>
              </a:rPr>
              <a:t>.</a:t>
            </a:r>
            <a:r>
              <a:rPr lang="en-US" sz="1800" b="0" i="0" dirty="0">
                <a:solidFill>
                  <a:srgbClr val="92A2BD"/>
                </a:solidFill>
                <a:latin typeface="Arial" panose="020B0604020202020204" pitchFamily="34" charset="0"/>
                <a:ea typeface="Gotham Book" charset="0"/>
                <a:cs typeface="Arial" panose="020B0604020202020204" pitchFamily="34" charset="0"/>
              </a:rPr>
              <a:t>EDU</a:t>
            </a:r>
          </a:p>
        </p:txBody>
      </p:sp>
      <p:sp>
        <p:nvSpPr>
          <p:cNvPr id="13" name="Subtitle 2"/>
          <p:cNvSpPr>
            <a:spLocks noGrp="1"/>
          </p:cNvSpPr>
          <p:nvPr>
            <p:ph type="subTitle" idx="1"/>
          </p:nvPr>
        </p:nvSpPr>
        <p:spPr>
          <a:xfrm>
            <a:off x="395371" y="3737295"/>
            <a:ext cx="9144000" cy="1655762"/>
          </a:xfrm>
        </p:spPr>
        <p:txBody>
          <a:bodyPr/>
          <a:lstStyle>
            <a:lvl1pPr marL="0" indent="0">
              <a:buNone/>
              <a:defRPr b="0"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pPr algn="l"/>
            <a:r>
              <a:rPr lang="en-US" dirty="0">
                <a:solidFill>
                  <a:schemeClr val="bg1"/>
                </a:solidFill>
              </a:rPr>
              <a:t>Subhead, name or date goes here</a:t>
            </a:r>
          </a:p>
        </p:txBody>
      </p:sp>
      <p:pic>
        <p:nvPicPr>
          <p:cNvPr id="24" name="Picture 23">
            <a:extLst>
              <a:ext uri="{FF2B5EF4-FFF2-40B4-BE49-F238E27FC236}">
                <a16:creationId xmlns:a16="http://schemas.microsoft.com/office/drawing/2014/main" id="{F3429AB2-51CA-D34A-933D-348196C30A2C}"/>
              </a:ext>
            </a:extLst>
          </p:cNvPr>
          <p:cNvPicPr>
            <a:picLocks noChangeAspect="1"/>
          </p:cNvPicPr>
          <p:nvPr userDrawn="1"/>
        </p:nvPicPr>
        <p:blipFill>
          <a:blip r:embed="rId3" cstate="screen">
            <a:alphaModFix amt="10000"/>
            <a:extLst>
              <a:ext uri="{28A0092B-C50C-407E-A947-70E740481C1C}">
                <a14:useLocalDpi xmlns:a14="http://schemas.microsoft.com/office/drawing/2010/main"/>
              </a:ext>
            </a:extLst>
          </a:blip>
          <a:srcRect/>
          <a:stretch/>
        </p:blipFill>
        <p:spPr>
          <a:xfrm>
            <a:off x="7384256" y="-12784"/>
            <a:ext cx="6962859" cy="6599580"/>
          </a:xfrm>
          <a:prstGeom prst="rect">
            <a:avLst/>
          </a:prstGeom>
        </p:spPr>
      </p:pic>
      <p:pic>
        <p:nvPicPr>
          <p:cNvPr id="2" name="Picture 1">
            <a:extLst>
              <a:ext uri="{FF2B5EF4-FFF2-40B4-BE49-F238E27FC236}">
                <a16:creationId xmlns:a16="http://schemas.microsoft.com/office/drawing/2014/main" id="{FD685737-4D8C-8556-3EB9-512C4CB4CFEF}"/>
              </a:ext>
            </a:extLst>
          </p:cNvPr>
          <p:cNvPicPr/>
          <p:nvPr userDrawn="1"/>
        </p:nvPicPr>
        <p:blipFill>
          <a:blip r:embed="rId4"/>
          <a:srcRect/>
          <a:stretch/>
        </p:blipFill>
        <p:spPr bwMode="auto">
          <a:xfrm>
            <a:off x="170744" y="6272555"/>
            <a:ext cx="4517828" cy="54172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608327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Rectangle 9"/>
          <p:cNvSpPr/>
          <p:nvPr userDrawn="1"/>
        </p:nvSpPr>
        <p:spPr>
          <a:xfrm>
            <a:off x="-9728" y="-9729"/>
            <a:ext cx="12201728" cy="6265545"/>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hasCustomPrompt="1"/>
          </p:nvPr>
        </p:nvSpPr>
        <p:spPr>
          <a:xfrm>
            <a:off x="831851" y="1709740"/>
            <a:ext cx="10515600" cy="2852737"/>
          </a:xfrm>
        </p:spPr>
        <p:txBody>
          <a:bodyPr anchor="b">
            <a:normAutofit/>
          </a:bodyPr>
          <a:lstStyle>
            <a:lvl1pPr>
              <a:defRPr sz="4400" b="1"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r>
              <a:rPr lang="en-US" dirty="0"/>
              <a:t>Section header goes here</a:t>
            </a:r>
          </a:p>
        </p:txBody>
      </p:sp>
      <p:sp>
        <p:nvSpPr>
          <p:cNvPr id="3" name="Text Placeholder 2"/>
          <p:cNvSpPr>
            <a:spLocks noGrp="1"/>
          </p:cNvSpPr>
          <p:nvPr>
            <p:ph type="body" idx="1" hasCustomPrompt="1"/>
          </p:nvPr>
        </p:nvSpPr>
        <p:spPr>
          <a:xfrm>
            <a:off x="831851" y="4589465"/>
            <a:ext cx="10515600" cy="1500187"/>
          </a:xfrm>
        </p:spPr>
        <p:txBody>
          <a:bodyPr/>
          <a:lstStyle>
            <a:lvl1pPr marL="0" indent="0">
              <a:buNone/>
              <a:defRPr sz="2400" b="0" i="0">
                <a:solidFill>
                  <a:srgbClr val="92A2BD"/>
                </a:solidFill>
                <a:latin typeface="Arial" panose="020B0604020202020204" pitchFamily="34" charset="0"/>
                <a:ea typeface="Arial" panose="020B0604020202020204" pitchFamily="34" charset="0"/>
                <a:cs typeface="Arial" panose="020B0604020202020204"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Section subhead goes here</a:t>
            </a:r>
          </a:p>
        </p:txBody>
      </p:sp>
      <p:sp>
        <p:nvSpPr>
          <p:cNvPr id="5" name="Footer Placeholder 4"/>
          <p:cNvSpPr>
            <a:spLocks noGrp="1"/>
          </p:cNvSpPr>
          <p:nvPr>
            <p:ph type="ftr" sz="quarter" idx="11"/>
          </p:nvPr>
        </p:nvSpPr>
        <p:spPr>
          <a:xfrm>
            <a:off x="4713960" y="6356352"/>
            <a:ext cx="3439439" cy="420905"/>
          </a:xfrm>
          <a:prstGeom prst="rect">
            <a:avLst/>
          </a:prstGeom>
        </p:spPr>
        <p:txBody>
          <a:bodyPr/>
          <a:lstStyle/>
          <a:p>
            <a:endParaRPr lang="en-US" dirty="0"/>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13" name="TextBox 12">
            <a:extLst>
              <a:ext uri="{FF2B5EF4-FFF2-40B4-BE49-F238E27FC236}">
                <a16:creationId xmlns:a16="http://schemas.microsoft.com/office/drawing/2014/main" id="{25715021-AF61-AF4F-9B48-1343FD8CB059}"/>
              </a:ext>
            </a:extLst>
          </p:cNvPr>
          <p:cNvSpPr txBox="1"/>
          <p:nvPr userDrawn="1"/>
        </p:nvSpPr>
        <p:spPr>
          <a:xfrm>
            <a:off x="7478040" y="6407925"/>
            <a:ext cx="4489537" cy="369332"/>
          </a:xfrm>
          <a:prstGeom prst="rect">
            <a:avLst/>
          </a:prstGeom>
          <a:noFill/>
        </p:spPr>
        <p:txBody>
          <a:bodyPr wrap="square" rtlCol="0">
            <a:spAutoFit/>
          </a:bodyPr>
          <a:lstStyle/>
          <a:p>
            <a:pPr algn="r"/>
            <a:r>
              <a:rPr lang="en-US" sz="1800" b="1" i="0" dirty="0">
                <a:solidFill>
                  <a:srgbClr val="21314D"/>
                </a:solidFill>
                <a:latin typeface="Arial" panose="020B0604020202020204" pitchFamily="34" charset="0"/>
                <a:ea typeface="Gotham Bold" charset="0"/>
                <a:cs typeface="Arial" panose="020B0604020202020204" pitchFamily="34" charset="0"/>
              </a:rPr>
              <a:t>MINES</a:t>
            </a:r>
            <a:r>
              <a:rPr lang="en-US" sz="1800" b="1" i="0" dirty="0">
                <a:solidFill>
                  <a:srgbClr val="D2492A"/>
                </a:solidFill>
                <a:latin typeface="Arial" panose="020B0604020202020204" pitchFamily="34" charset="0"/>
                <a:ea typeface="Gotham Bold" charset="0"/>
                <a:cs typeface="Arial" panose="020B0604020202020204" pitchFamily="34" charset="0"/>
              </a:rPr>
              <a:t>.</a:t>
            </a:r>
            <a:r>
              <a:rPr lang="en-US" sz="1800" b="0" i="0" dirty="0">
                <a:solidFill>
                  <a:srgbClr val="92A2BD"/>
                </a:solidFill>
                <a:latin typeface="Arial" panose="020B0604020202020204" pitchFamily="34" charset="0"/>
                <a:ea typeface="Gotham Book" charset="0"/>
                <a:cs typeface="Arial" panose="020B0604020202020204" pitchFamily="34" charset="0"/>
              </a:rPr>
              <a:t>EDU</a:t>
            </a:r>
          </a:p>
        </p:txBody>
      </p:sp>
      <p:pic>
        <p:nvPicPr>
          <p:cNvPr id="9" name="Picture 8">
            <a:extLst>
              <a:ext uri="{FF2B5EF4-FFF2-40B4-BE49-F238E27FC236}">
                <a16:creationId xmlns:a16="http://schemas.microsoft.com/office/drawing/2014/main" id="{464FFB32-28EC-8E7F-BBDD-10156E7A1D19}"/>
              </a:ext>
            </a:extLst>
          </p:cNvPr>
          <p:cNvPicPr/>
          <p:nvPr userDrawn="1"/>
        </p:nvPicPr>
        <p:blipFill>
          <a:blip r:embed="rId2"/>
          <a:srcRect/>
          <a:stretch/>
        </p:blipFill>
        <p:spPr bwMode="auto">
          <a:xfrm>
            <a:off x="170744" y="6272555"/>
            <a:ext cx="4517828" cy="54172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5936876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21314D"/>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15" name="Rectangle 14"/>
          <p:cNvSpPr/>
          <p:nvPr userDrawn="1"/>
        </p:nvSpPr>
        <p:spPr>
          <a:xfrm>
            <a:off x="-9728" y="6265545"/>
            <a:ext cx="12201728" cy="601701"/>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3" name="Content Placeholder 2"/>
          <p:cNvSpPr>
            <a:spLocks noGrp="1"/>
          </p:cNvSpPr>
          <p:nvPr>
            <p:ph idx="1"/>
          </p:nvPr>
        </p:nvSpPr>
        <p:spPr/>
        <p:txBody>
          <a:bodyPr/>
          <a:lstStyle>
            <a:lvl1pPr>
              <a:lnSpc>
                <a:spcPct val="110000"/>
              </a:lnSpc>
              <a:spcBef>
                <a:spcPts val="1000"/>
              </a:spcBef>
              <a:defRPr>
                <a:latin typeface="Arial" panose="020B0604020202020204" pitchFamily="34" charset="0"/>
                <a:cs typeface="Arial" panose="020B0604020202020204" pitchFamily="34" charset="0"/>
              </a:defRPr>
            </a:lvl1pPr>
            <a:lvl2pPr>
              <a:lnSpc>
                <a:spcPct val="110000"/>
              </a:lnSpc>
              <a:spcBef>
                <a:spcPts val="1000"/>
              </a:spcBef>
              <a:defRPr>
                <a:latin typeface="Arial" panose="020B0604020202020204" pitchFamily="34" charset="0"/>
                <a:cs typeface="Arial" panose="020B0604020202020204" pitchFamily="34" charset="0"/>
              </a:defRPr>
            </a:lvl2pPr>
            <a:lvl3pPr>
              <a:lnSpc>
                <a:spcPct val="110000"/>
              </a:lnSpc>
              <a:spcBef>
                <a:spcPts val="1000"/>
              </a:spcBef>
              <a:defRPr>
                <a:latin typeface="Arial" panose="020B0604020202020204" pitchFamily="34" charset="0"/>
                <a:cs typeface="Arial" panose="020B0604020202020204" pitchFamily="34" charset="0"/>
              </a:defRPr>
            </a:lvl3pPr>
            <a:lvl4pPr>
              <a:lnSpc>
                <a:spcPct val="110000"/>
              </a:lnSpc>
              <a:spcBef>
                <a:spcPts val="1000"/>
              </a:spcBef>
              <a:defRPr>
                <a:latin typeface="Arial" panose="020B0604020202020204" pitchFamily="34" charset="0"/>
                <a:cs typeface="Arial" panose="020B0604020202020204" pitchFamily="34" charset="0"/>
              </a:defRPr>
            </a:lvl4pPr>
            <a:lvl5pPr>
              <a:lnSpc>
                <a:spcPct val="110000"/>
              </a:lnSpc>
              <a:spcBef>
                <a:spcPts val="1000"/>
              </a:spcBef>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14" name="TextBox 13"/>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Arial" panose="020B0604020202020204" pitchFamily="34" charset="0"/>
                <a:ea typeface="Gotham Bold" charset="0"/>
                <a:cs typeface="Arial" panose="020B0604020202020204" pitchFamily="34" charset="0"/>
              </a:rPr>
              <a:t>MINES</a:t>
            </a:r>
            <a:r>
              <a:rPr lang="en-US" sz="1800" b="1" i="0" dirty="0">
                <a:solidFill>
                  <a:srgbClr val="D2492A"/>
                </a:solidFill>
                <a:latin typeface="Arial" panose="020B0604020202020204" pitchFamily="34" charset="0"/>
                <a:ea typeface="Gotham Bold" charset="0"/>
                <a:cs typeface="Arial" panose="020B0604020202020204" pitchFamily="34" charset="0"/>
              </a:rPr>
              <a:t>.</a:t>
            </a:r>
            <a:r>
              <a:rPr lang="en-US" sz="1800" b="0" i="0" dirty="0">
                <a:solidFill>
                  <a:srgbClr val="92A2BD"/>
                </a:solidFill>
                <a:latin typeface="Arial" panose="020B0604020202020204" pitchFamily="34" charset="0"/>
                <a:ea typeface="Gotham Book" charset="0"/>
                <a:cs typeface="Arial" panose="020B0604020202020204" pitchFamily="34" charset="0"/>
              </a:rPr>
              <a:t>EDU</a:t>
            </a:r>
          </a:p>
        </p:txBody>
      </p:sp>
      <p:pic>
        <p:nvPicPr>
          <p:cNvPr id="8" name="Picture 7">
            <a:extLst>
              <a:ext uri="{FF2B5EF4-FFF2-40B4-BE49-F238E27FC236}">
                <a16:creationId xmlns:a16="http://schemas.microsoft.com/office/drawing/2014/main" id="{3825D11F-BECA-9195-1643-4A17F94E2F18}"/>
              </a:ext>
            </a:extLst>
          </p:cNvPr>
          <p:cNvPicPr/>
          <p:nvPr userDrawn="1"/>
        </p:nvPicPr>
        <p:blipFill>
          <a:blip r:embed="rId2"/>
          <a:srcRect/>
          <a:stretch/>
        </p:blipFill>
        <p:spPr bwMode="auto">
          <a:xfrm>
            <a:off x="206066" y="6280773"/>
            <a:ext cx="4447184" cy="54172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136334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21314D"/>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lvl1pPr>
              <a:lnSpc>
                <a:spcPct val="110000"/>
              </a:lnSpc>
              <a:spcBef>
                <a:spcPts val="1000"/>
              </a:spcBef>
              <a:defRPr>
                <a:latin typeface="Arial" panose="020B0604020202020204" pitchFamily="34" charset="0"/>
                <a:cs typeface="Arial" panose="020B0604020202020204" pitchFamily="34" charset="0"/>
              </a:defRPr>
            </a:lvl1pPr>
            <a:lvl2pPr>
              <a:lnSpc>
                <a:spcPct val="110000"/>
              </a:lnSpc>
              <a:spcBef>
                <a:spcPts val="1000"/>
              </a:spcBef>
              <a:defRPr>
                <a:latin typeface="Arial" panose="020B0604020202020204" pitchFamily="34" charset="0"/>
                <a:cs typeface="Arial" panose="020B0604020202020204" pitchFamily="34" charset="0"/>
              </a:defRPr>
            </a:lvl2pPr>
            <a:lvl3pPr>
              <a:lnSpc>
                <a:spcPct val="110000"/>
              </a:lnSpc>
              <a:spcBef>
                <a:spcPts val="1000"/>
              </a:spcBef>
              <a:defRPr>
                <a:latin typeface="Arial" panose="020B0604020202020204" pitchFamily="34" charset="0"/>
                <a:cs typeface="Arial" panose="020B0604020202020204" pitchFamily="34" charset="0"/>
              </a:defRPr>
            </a:lvl3pPr>
            <a:lvl4pPr>
              <a:lnSpc>
                <a:spcPct val="110000"/>
              </a:lnSpc>
              <a:spcBef>
                <a:spcPts val="1000"/>
              </a:spcBef>
              <a:defRPr>
                <a:latin typeface="Arial" panose="020B0604020202020204" pitchFamily="34" charset="0"/>
                <a:cs typeface="Arial" panose="020B0604020202020204" pitchFamily="34" charset="0"/>
              </a:defRPr>
            </a:lvl4pPr>
            <a:lvl5pPr>
              <a:lnSpc>
                <a:spcPct val="110000"/>
              </a:lnSpc>
              <a:spcBef>
                <a:spcPts val="1000"/>
              </a:spcBef>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lvl1pPr>
              <a:lnSpc>
                <a:spcPct val="110000"/>
              </a:lnSpc>
              <a:spcBef>
                <a:spcPts val="1000"/>
              </a:spcBef>
              <a:defRPr>
                <a:latin typeface="Arial" panose="020B0604020202020204" pitchFamily="34" charset="0"/>
                <a:cs typeface="Arial" panose="020B0604020202020204" pitchFamily="34" charset="0"/>
              </a:defRPr>
            </a:lvl1pPr>
            <a:lvl2pPr>
              <a:lnSpc>
                <a:spcPct val="110000"/>
              </a:lnSpc>
              <a:spcBef>
                <a:spcPts val="1000"/>
              </a:spcBef>
              <a:defRPr>
                <a:latin typeface="Arial" panose="020B0604020202020204" pitchFamily="34" charset="0"/>
                <a:cs typeface="Arial" panose="020B0604020202020204" pitchFamily="34" charset="0"/>
              </a:defRPr>
            </a:lvl2pPr>
            <a:lvl3pPr>
              <a:lnSpc>
                <a:spcPct val="110000"/>
              </a:lnSpc>
              <a:spcBef>
                <a:spcPts val="1000"/>
              </a:spcBef>
              <a:defRPr>
                <a:latin typeface="Arial" panose="020B0604020202020204" pitchFamily="34" charset="0"/>
                <a:cs typeface="Arial" panose="020B0604020202020204" pitchFamily="34" charset="0"/>
              </a:defRPr>
            </a:lvl3pPr>
            <a:lvl4pPr>
              <a:lnSpc>
                <a:spcPct val="110000"/>
              </a:lnSpc>
              <a:spcBef>
                <a:spcPts val="1000"/>
              </a:spcBef>
              <a:defRPr>
                <a:latin typeface="Arial" panose="020B0604020202020204" pitchFamily="34" charset="0"/>
                <a:cs typeface="Arial" panose="020B0604020202020204" pitchFamily="34" charset="0"/>
              </a:defRPr>
            </a:lvl4pPr>
            <a:lvl5pPr>
              <a:lnSpc>
                <a:spcPct val="110000"/>
              </a:lnSpc>
              <a:spcBef>
                <a:spcPts val="1000"/>
              </a:spcBef>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10/29/2025</a:t>
            </a:fld>
            <a:endParaRPr lang="en-US"/>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8" name="Rectangle 7"/>
          <p:cNvSpPr/>
          <p:nvPr userDrawn="1"/>
        </p:nvSpPr>
        <p:spPr>
          <a:xfrm>
            <a:off x="-9728" y="6265545"/>
            <a:ext cx="12201728" cy="592455"/>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3" name="TextBox 12">
            <a:extLst>
              <a:ext uri="{FF2B5EF4-FFF2-40B4-BE49-F238E27FC236}">
                <a16:creationId xmlns:a16="http://schemas.microsoft.com/office/drawing/2014/main" id="{3E729617-3EE6-934F-B272-92B6163ABCA3}"/>
              </a:ext>
            </a:extLst>
          </p:cNvPr>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Arial" panose="020B0604020202020204" pitchFamily="34" charset="0"/>
                <a:ea typeface="Gotham Bold" charset="0"/>
                <a:cs typeface="Arial" panose="020B0604020202020204" pitchFamily="34" charset="0"/>
              </a:rPr>
              <a:t>MINES</a:t>
            </a:r>
            <a:r>
              <a:rPr lang="en-US" sz="1800" b="1" i="0" dirty="0">
                <a:solidFill>
                  <a:srgbClr val="D2492A"/>
                </a:solidFill>
                <a:latin typeface="Arial" panose="020B0604020202020204" pitchFamily="34" charset="0"/>
                <a:ea typeface="Gotham Bold" charset="0"/>
                <a:cs typeface="Arial" panose="020B0604020202020204" pitchFamily="34" charset="0"/>
              </a:rPr>
              <a:t>.</a:t>
            </a:r>
            <a:r>
              <a:rPr lang="en-US" sz="1800" b="0" i="0" dirty="0">
                <a:solidFill>
                  <a:srgbClr val="92A2BD"/>
                </a:solidFill>
                <a:latin typeface="Arial" panose="020B0604020202020204" pitchFamily="34" charset="0"/>
                <a:ea typeface="Gotham Book" charset="0"/>
                <a:cs typeface="Arial" panose="020B0604020202020204" pitchFamily="34" charset="0"/>
              </a:rPr>
              <a:t>EDU</a:t>
            </a:r>
          </a:p>
        </p:txBody>
      </p:sp>
      <p:pic>
        <p:nvPicPr>
          <p:cNvPr id="10" name="Picture 9">
            <a:extLst>
              <a:ext uri="{FF2B5EF4-FFF2-40B4-BE49-F238E27FC236}">
                <a16:creationId xmlns:a16="http://schemas.microsoft.com/office/drawing/2014/main" id="{919AA425-4633-FC05-D80B-187DA32E80E0}"/>
              </a:ext>
            </a:extLst>
          </p:cNvPr>
          <p:cNvPicPr/>
          <p:nvPr userDrawn="1"/>
        </p:nvPicPr>
        <p:blipFill>
          <a:blip r:embed="rId2"/>
          <a:srcRect/>
          <a:stretch/>
        </p:blipFill>
        <p:spPr bwMode="auto">
          <a:xfrm>
            <a:off x="206066" y="6280773"/>
            <a:ext cx="4447184" cy="54172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6918511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lvl1pPr>
              <a:defRPr>
                <a:solidFill>
                  <a:srgbClr val="21314D"/>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Arial" panose="020B0604020202020204" pitchFamily="34" charset="0"/>
                <a:cs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9" y="2505075"/>
            <a:ext cx="5157787" cy="3684588"/>
          </a:xfrm>
        </p:spPr>
        <p:txBody>
          <a:bodyPr/>
          <a:lstStyle>
            <a:lvl1pPr>
              <a:lnSpc>
                <a:spcPct val="110000"/>
              </a:lnSpc>
              <a:spcBef>
                <a:spcPts val="1000"/>
              </a:spcBef>
              <a:defRPr>
                <a:latin typeface="Arial" panose="020B0604020202020204" pitchFamily="34" charset="0"/>
                <a:cs typeface="Arial" panose="020B0604020202020204" pitchFamily="34" charset="0"/>
              </a:defRPr>
            </a:lvl1pPr>
            <a:lvl2pPr>
              <a:lnSpc>
                <a:spcPct val="110000"/>
              </a:lnSpc>
              <a:spcBef>
                <a:spcPts val="1000"/>
              </a:spcBef>
              <a:defRPr>
                <a:latin typeface="Arial" panose="020B0604020202020204" pitchFamily="34" charset="0"/>
                <a:cs typeface="Arial" panose="020B0604020202020204" pitchFamily="34" charset="0"/>
              </a:defRPr>
            </a:lvl2pPr>
            <a:lvl3pPr>
              <a:lnSpc>
                <a:spcPct val="110000"/>
              </a:lnSpc>
              <a:spcBef>
                <a:spcPts val="1000"/>
              </a:spcBef>
              <a:defRPr>
                <a:latin typeface="Arial" panose="020B0604020202020204" pitchFamily="34" charset="0"/>
                <a:cs typeface="Arial" panose="020B0604020202020204" pitchFamily="34" charset="0"/>
              </a:defRPr>
            </a:lvl3pPr>
            <a:lvl4pPr>
              <a:lnSpc>
                <a:spcPct val="110000"/>
              </a:lnSpc>
              <a:spcBef>
                <a:spcPts val="1000"/>
              </a:spcBef>
              <a:defRPr>
                <a:latin typeface="Arial" panose="020B0604020202020204" pitchFamily="34" charset="0"/>
                <a:cs typeface="Arial" panose="020B0604020202020204" pitchFamily="34" charset="0"/>
              </a:defRPr>
            </a:lvl4pPr>
            <a:lvl5pPr>
              <a:lnSpc>
                <a:spcPct val="110000"/>
              </a:lnSpc>
              <a:spcBef>
                <a:spcPts val="1000"/>
              </a:spcBef>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atin typeface="Arial" panose="020B0604020202020204" pitchFamily="34" charset="0"/>
                <a:cs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lvl1pPr>
              <a:lnSpc>
                <a:spcPct val="110000"/>
              </a:lnSpc>
              <a:spcBef>
                <a:spcPts val="1000"/>
              </a:spcBef>
              <a:defRPr>
                <a:latin typeface="Arial" panose="020B0604020202020204" pitchFamily="34" charset="0"/>
                <a:cs typeface="Arial" panose="020B0604020202020204" pitchFamily="34" charset="0"/>
              </a:defRPr>
            </a:lvl1pPr>
            <a:lvl2pPr>
              <a:lnSpc>
                <a:spcPct val="110000"/>
              </a:lnSpc>
              <a:spcBef>
                <a:spcPts val="1000"/>
              </a:spcBef>
              <a:defRPr>
                <a:latin typeface="Arial" panose="020B0604020202020204" pitchFamily="34" charset="0"/>
                <a:cs typeface="Arial" panose="020B0604020202020204" pitchFamily="34" charset="0"/>
              </a:defRPr>
            </a:lvl2pPr>
            <a:lvl3pPr>
              <a:lnSpc>
                <a:spcPct val="110000"/>
              </a:lnSpc>
              <a:spcBef>
                <a:spcPts val="1000"/>
              </a:spcBef>
              <a:defRPr>
                <a:latin typeface="Arial" panose="020B0604020202020204" pitchFamily="34" charset="0"/>
                <a:cs typeface="Arial" panose="020B0604020202020204" pitchFamily="34" charset="0"/>
              </a:defRPr>
            </a:lvl3pPr>
            <a:lvl4pPr>
              <a:lnSpc>
                <a:spcPct val="110000"/>
              </a:lnSpc>
              <a:spcBef>
                <a:spcPts val="1000"/>
              </a:spcBef>
              <a:defRPr>
                <a:latin typeface="Arial" panose="020B0604020202020204" pitchFamily="34" charset="0"/>
                <a:cs typeface="Arial" panose="020B0604020202020204" pitchFamily="34" charset="0"/>
              </a:defRPr>
            </a:lvl4pPr>
            <a:lvl5pPr>
              <a:lnSpc>
                <a:spcPct val="110000"/>
              </a:lnSpc>
              <a:spcBef>
                <a:spcPts val="1000"/>
              </a:spcBef>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10/29/2025</a:t>
            </a:fld>
            <a:endParaRPr lang="en-US"/>
          </a:p>
        </p:txBody>
      </p:sp>
      <p:sp>
        <p:nvSpPr>
          <p:cNvPr id="8" name="Footer Placeholder 7"/>
          <p:cNvSpPr>
            <a:spLocks noGrp="1"/>
          </p:cNvSpPr>
          <p:nvPr>
            <p:ph type="ftr" sz="quarter" idx="11"/>
          </p:nvPr>
        </p:nvSpPr>
        <p:spPr>
          <a:xfrm>
            <a:off x="4038600" y="6356352"/>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10" name="Rectangle 9"/>
          <p:cNvSpPr/>
          <p:nvPr userDrawn="1"/>
        </p:nvSpPr>
        <p:spPr>
          <a:xfrm>
            <a:off x="-9728" y="6265545"/>
            <a:ext cx="12201728" cy="592455"/>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5" name="TextBox 14">
            <a:extLst>
              <a:ext uri="{FF2B5EF4-FFF2-40B4-BE49-F238E27FC236}">
                <a16:creationId xmlns:a16="http://schemas.microsoft.com/office/drawing/2014/main" id="{07053E08-80AB-B043-979E-87B7A1E7EB21}"/>
              </a:ext>
            </a:extLst>
          </p:cNvPr>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Arial" panose="020B0604020202020204" pitchFamily="34" charset="0"/>
                <a:ea typeface="Gotham Bold" charset="0"/>
                <a:cs typeface="Arial" panose="020B0604020202020204" pitchFamily="34" charset="0"/>
              </a:rPr>
              <a:t>MINES</a:t>
            </a:r>
            <a:r>
              <a:rPr lang="en-US" sz="1800" b="1" i="0" dirty="0">
                <a:solidFill>
                  <a:srgbClr val="D2492A"/>
                </a:solidFill>
                <a:latin typeface="Arial" panose="020B0604020202020204" pitchFamily="34" charset="0"/>
                <a:ea typeface="Gotham Bold" charset="0"/>
                <a:cs typeface="Arial" panose="020B0604020202020204" pitchFamily="34" charset="0"/>
              </a:rPr>
              <a:t>.</a:t>
            </a:r>
            <a:r>
              <a:rPr lang="en-US" sz="1800" b="0" i="0" dirty="0">
                <a:solidFill>
                  <a:srgbClr val="92A2BD"/>
                </a:solidFill>
                <a:latin typeface="Arial" panose="020B0604020202020204" pitchFamily="34" charset="0"/>
                <a:ea typeface="Gotham Book" charset="0"/>
                <a:cs typeface="Arial" panose="020B0604020202020204" pitchFamily="34" charset="0"/>
              </a:rPr>
              <a:t>EDU</a:t>
            </a:r>
          </a:p>
        </p:txBody>
      </p:sp>
      <p:pic>
        <p:nvPicPr>
          <p:cNvPr id="12" name="Picture 11">
            <a:extLst>
              <a:ext uri="{FF2B5EF4-FFF2-40B4-BE49-F238E27FC236}">
                <a16:creationId xmlns:a16="http://schemas.microsoft.com/office/drawing/2014/main" id="{F1DA41D5-A2EF-3F46-8CE9-D22C89A886CF}"/>
              </a:ext>
            </a:extLst>
          </p:cNvPr>
          <p:cNvPicPr/>
          <p:nvPr userDrawn="1"/>
        </p:nvPicPr>
        <p:blipFill>
          <a:blip r:embed="rId2"/>
          <a:srcRect/>
          <a:stretch/>
        </p:blipFill>
        <p:spPr bwMode="auto">
          <a:xfrm>
            <a:off x="206066" y="6280773"/>
            <a:ext cx="4447184" cy="54172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118795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21314D"/>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10/29/2025</a:t>
            </a:fld>
            <a:endParaRPr lang="en-US"/>
          </a:p>
        </p:txBody>
      </p:sp>
      <p:sp>
        <p:nvSpPr>
          <p:cNvPr id="4" name="Footer Placeholder 3"/>
          <p:cNvSpPr>
            <a:spLocks noGrp="1"/>
          </p:cNvSpPr>
          <p:nvPr>
            <p:ph type="ftr" sz="quarter" idx="11"/>
          </p:nvPr>
        </p:nvSpPr>
        <p:spPr>
          <a:xfrm>
            <a:off x="4038600" y="6356352"/>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6" name="Rectangle 5"/>
          <p:cNvSpPr/>
          <p:nvPr userDrawn="1"/>
        </p:nvSpPr>
        <p:spPr>
          <a:xfrm>
            <a:off x="-9728" y="6265545"/>
            <a:ext cx="12201728" cy="592455"/>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1" name="TextBox 10">
            <a:extLst>
              <a:ext uri="{FF2B5EF4-FFF2-40B4-BE49-F238E27FC236}">
                <a16:creationId xmlns:a16="http://schemas.microsoft.com/office/drawing/2014/main" id="{6BA0EA07-1225-FE4C-917E-74A024F5E428}"/>
              </a:ext>
            </a:extLst>
          </p:cNvPr>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Arial" panose="020B0604020202020204" pitchFamily="34" charset="0"/>
                <a:ea typeface="Gotham Bold" charset="0"/>
                <a:cs typeface="Arial" panose="020B0604020202020204" pitchFamily="34" charset="0"/>
              </a:rPr>
              <a:t>MINES</a:t>
            </a:r>
            <a:r>
              <a:rPr lang="en-US" sz="1800" b="1" i="0" dirty="0">
                <a:solidFill>
                  <a:srgbClr val="D2492A"/>
                </a:solidFill>
                <a:latin typeface="Arial" panose="020B0604020202020204" pitchFamily="34" charset="0"/>
                <a:ea typeface="Gotham Bold" charset="0"/>
                <a:cs typeface="Arial" panose="020B0604020202020204" pitchFamily="34" charset="0"/>
              </a:rPr>
              <a:t>.</a:t>
            </a:r>
            <a:r>
              <a:rPr lang="en-US" sz="1800" b="0" i="0" dirty="0">
                <a:solidFill>
                  <a:srgbClr val="92A2BD"/>
                </a:solidFill>
                <a:latin typeface="Arial" panose="020B0604020202020204" pitchFamily="34" charset="0"/>
                <a:ea typeface="Gotham Book" charset="0"/>
                <a:cs typeface="Arial" panose="020B0604020202020204" pitchFamily="34" charset="0"/>
              </a:rPr>
              <a:t>EDU</a:t>
            </a:r>
          </a:p>
        </p:txBody>
      </p:sp>
      <p:pic>
        <p:nvPicPr>
          <p:cNvPr id="8" name="Picture 7">
            <a:extLst>
              <a:ext uri="{FF2B5EF4-FFF2-40B4-BE49-F238E27FC236}">
                <a16:creationId xmlns:a16="http://schemas.microsoft.com/office/drawing/2014/main" id="{659ABAF5-5B25-8DE7-790D-FA1AE09394A3}"/>
              </a:ext>
            </a:extLst>
          </p:cNvPr>
          <p:cNvPicPr/>
          <p:nvPr userDrawn="1"/>
        </p:nvPicPr>
        <p:blipFill>
          <a:blip r:embed="rId2"/>
          <a:srcRect/>
          <a:stretch/>
        </p:blipFill>
        <p:spPr bwMode="auto">
          <a:xfrm>
            <a:off x="206066" y="6280773"/>
            <a:ext cx="4447184" cy="54172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311590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10/29/2025</a:t>
            </a:fld>
            <a:endParaRPr lang="en-US"/>
          </a:p>
        </p:txBody>
      </p:sp>
      <p:sp>
        <p:nvSpPr>
          <p:cNvPr id="3" name="Footer Placeholder 2"/>
          <p:cNvSpPr>
            <a:spLocks noGrp="1"/>
          </p:cNvSpPr>
          <p:nvPr>
            <p:ph type="ftr" sz="quarter" idx="11"/>
          </p:nvPr>
        </p:nvSpPr>
        <p:spPr>
          <a:xfrm>
            <a:off x="4038600" y="6356352"/>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10" name="Picture Placeholder 2"/>
          <p:cNvSpPr>
            <a:spLocks noGrp="1"/>
          </p:cNvSpPr>
          <p:nvPr>
            <p:ph type="pic" idx="1"/>
          </p:nvPr>
        </p:nvSpPr>
        <p:spPr>
          <a:xfrm>
            <a:off x="0" y="1"/>
            <a:ext cx="12192000" cy="557703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5" name="Title 1">
            <a:extLst>
              <a:ext uri="{FF2B5EF4-FFF2-40B4-BE49-F238E27FC236}">
                <a16:creationId xmlns:a16="http://schemas.microsoft.com/office/drawing/2014/main" id="{E0195860-2CCD-1BF3-2ABA-D0CFB21BBB74}"/>
              </a:ext>
            </a:extLst>
          </p:cNvPr>
          <p:cNvSpPr>
            <a:spLocks noGrp="1"/>
          </p:cNvSpPr>
          <p:nvPr>
            <p:ph type="title"/>
          </p:nvPr>
        </p:nvSpPr>
        <p:spPr>
          <a:xfrm>
            <a:off x="838200" y="5532436"/>
            <a:ext cx="10515600" cy="1325563"/>
          </a:xfrm>
        </p:spPr>
        <p:txBody>
          <a:bodyPr>
            <a:normAutofit/>
          </a:bodyPr>
          <a:lstStyle>
            <a:lvl1pPr>
              <a:defRPr sz="2400">
                <a:solidFill>
                  <a:srgbClr val="21314D"/>
                </a:solidFill>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2131095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Rectangle 2"/>
          <p:cNvSpPr/>
          <p:nvPr userDrawn="1"/>
        </p:nvSpPr>
        <p:spPr>
          <a:xfrm>
            <a:off x="-10048" y="-10048"/>
            <a:ext cx="12202048" cy="6868048"/>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2" name="Picture 1">
            <a:extLst>
              <a:ext uri="{FF2B5EF4-FFF2-40B4-BE49-F238E27FC236}">
                <a16:creationId xmlns:a16="http://schemas.microsoft.com/office/drawing/2014/main" id="{3B25E2E4-05B3-B9EC-A480-E55FE3BFE960}"/>
              </a:ext>
            </a:extLst>
          </p:cNvPr>
          <p:cNvPicPr>
            <a:picLocks noChangeAspect="1"/>
          </p:cNvPicPr>
          <p:nvPr userDrawn="1"/>
        </p:nvPicPr>
        <p:blipFill>
          <a:blip r:embed="rId2" cstate="screen">
            <a:alphaModFix amt="10000"/>
            <a:extLst>
              <a:ext uri="{28A0092B-C50C-407E-A947-70E740481C1C}">
                <a14:useLocalDpi xmlns:a14="http://schemas.microsoft.com/office/drawing/2010/main"/>
              </a:ext>
            </a:extLst>
          </a:blip>
          <a:srcRect/>
          <a:stretch/>
        </p:blipFill>
        <p:spPr>
          <a:xfrm>
            <a:off x="7384256" y="-12784"/>
            <a:ext cx="6962859" cy="6599580"/>
          </a:xfrm>
          <a:prstGeom prst="rect">
            <a:avLst/>
          </a:prstGeom>
        </p:spPr>
      </p:pic>
      <p:sp>
        <p:nvSpPr>
          <p:cNvPr id="5" name="Subtitle 2"/>
          <p:cNvSpPr>
            <a:spLocks noGrp="1"/>
          </p:cNvSpPr>
          <p:nvPr>
            <p:ph type="subTitle" idx="1" hasCustomPrompt="1"/>
          </p:nvPr>
        </p:nvSpPr>
        <p:spPr>
          <a:xfrm>
            <a:off x="2046399" y="2531096"/>
            <a:ext cx="9144000" cy="1655762"/>
          </a:xfrm>
        </p:spPr>
        <p:txBody>
          <a:bodyPr>
            <a:normAutofit/>
          </a:bodyPr>
          <a:lstStyle>
            <a:lvl1pPr marL="0" indent="0">
              <a:buNone/>
              <a:defRPr sz="4000" b="0"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pPr algn="l"/>
            <a:r>
              <a:rPr lang="en-US" dirty="0">
                <a:solidFill>
                  <a:schemeClr val="bg1"/>
                </a:solidFill>
              </a:rPr>
              <a:t>“Quote goes here.”</a:t>
            </a:r>
          </a:p>
        </p:txBody>
      </p:sp>
    </p:spTree>
    <p:extLst>
      <p:ext uri="{BB962C8B-B14F-4D97-AF65-F5344CB8AC3E}">
        <p14:creationId xmlns:p14="http://schemas.microsoft.com/office/powerpoint/2010/main" val="224394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Title 1"/>
          <p:cNvSpPr>
            <a:spLocks noGrp="1"/>
          </p:cNvSpPr>
          <p:nvPr>
            <p:ph type="title"/>
          </p:nvPr>
        </p:nvSpPr>
        <p:spPr>
          <a:xfrm>
            <a:off x="7060252" y="982464"/>
            <a:ext cx="4862405" cy="1794085"/>
          </a:xfrm>
        </p:spPr>
        <p:txBody>
          <a:bodyPr/>
          <a:lstStyle>
            <a:lvl1pPr>
              <a:defRPr>
                <a:latin typeface="Arial" panose="020B0604020202020204" pitchFamily="34" charset="0"/>
                <a:cs typeface="Arial" panose="020B0604020202020204" pitchFamily="34" charset="0"/>
              </a:defRPr>
            </a:lvl1pPr>
          </a:lstStyle>
          <a:p>
            <a:r>
              <a:rPr lang="en-US" dirty="0"/>
              <a:t>Headline Copy Goes Here</a:t>
            </a:r>
          </a:p>
        </p:txBody>
      </p:sp>
      <p:sp>
        <p:nvSpPr>
          <p:cNvPr id="4" name="Content Placeholder 2"/>
          <p:cNvSpPr>
            <a:spLocks noGrp="1"/>
          </p:cNvSpPr>
          <p:nvPr>
            <p:ph idx="1"/>
          </p:nvPr>
        </p:nvSpPr>
        <p:spPr>
          <a:xfrm>
            <a:off x="7060253" y="3052261"/>
            <a:ext cx="4862404" cy="1975926"/>
          </a:xfrm>
        </p:spPr>
        <p:txBody>
          <a:bodyPr/>
          <a:lstStyle>
            <a:lvl1pPr>
              <a:lnSpc>
                <a:spcPct val="110000"/>
              </a:lnSpc>
              <a:defRPr>
                <a:latin typeface="Arial" panose="020B0604020202020204" pitchFamily="34" charset="0"/>
                <a:cs typeface="Arial" panose="020B0604020202020204" pitchFamily="34" charset="0"/>
              </a:defRPr>
            </a:lvl1pPr>
          </a:lstStyle>
          <a:p>
            <a:r>
              <a:rPr lang="en-US" dirty="0"/>
              <a:t>Click to add text</a:t>
            </a:r>
          </a:p>
          <a:p>
            <a:r>
              <a:rPr lang="en-US" dirty="0"/>
              <a:t>Click to add text</a:t>
            </a:r>
          </a:p>
        </p:txBody>
      </p:sp>
      <p:sp>
        <p:nvSpPr>
          <p:cNvPr id="6" name="Picture Placeholder 2"/>
          <p:cNvSpPr>
            <a:spLocks noGrp="1"/>
          </p:cNvSpPr>
          <p:nvPr>
            <p:ph type="pic" idx="10"/>
          </p:nvPr>
        </p:nvSpPr>
        <p:spPr>
          <a:xfrm>
            <a:off x="0" y="3"/>
            <a:ext cx="6890995" cy="6857999"/>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8" name="TextBox 7"/>
          <p:cNvSpPr txBox="1"/>
          <p:nvPr userDrawn="1"/>
        </p:nvSpPr>
        <p:spPr>
          <a:xfrm>
            <a:off x="7478040" y="6407925"/>
            <a:ext cx="4489537" cy="369332"/>
          </a:xfrm>
          <a:prstGeom prst="rect">
            <a:avLst/>
          </a:prstGeom>
          <a:noFill/>
        </p:spPr>
        <p:txBody>
          <a:bodyPr wrap="square" rtlCol="0">
            <a:spAutoFit/>
          </a:bodyPr>
          <a:lstStyle/>
          <a:p>
            <a:pPr algn="r"/>
            <a:r>
              <a:rPr lang="en-US" sz="1800" b="1" i="0" dirty="0">
                <a:solidFill>
                  <a:srgbClr val="21314D"/>
                </a:solidFill>
                <a:latin typeface="Arial" panose="020B0604020202020204" pitchFamily="34" charset="0"/>
                <a:ea typeface="Gotham Bold" charset="0"/>
                <a:cs typeface="Arial" panose="020B0604020202020204" pitchFamily="34" charset="0"/>
              </a:rPr>
              <a:t>MINES</a:t>
            </a:r>
            <a:r>
              <a:rPr lang="en-US" sz="1800" b="1" i="0" dirty="0">
                <a:solidFill>
                  <a:srgbClr val="D2492A"/>
                </a:solidFill>
                <a:latin typeface="Arial" panose="020B0604020202020204" pitchFamily="34" charset="0"/>
                <a:ea typeface="Gotham Bold" charset="0"/>
                <a:cs typeface="Arial" panose="020B0604020202020204" pitchFamily="34" charset="0"/>
              </a:rPr>
              <a:t>.</a:t>
            </a:r>
            <a:r>
              <a:rPr lang="en-US" sz="1800" b="0" i="0" dirty="0">
                <a:solidFill>
                  <a:srgbClr val="92A2BD"/>
                </a:solidFill>
                <a:latin typeface="Arial" panose="020B0604020202020204" pitchFamily="34" charset="0"/>
                <a:ea typeface="Gotham Book" charset="0"/>
                <a:cs typeface="Arial" panose="020B0604020202020204" pitchFamily="34" charset="0"/>
              </a:rPr>
              <a:t>EDU</a:t>
            </a:r>
          </a:p>
        </p:txBody>
      </p:sp>
    </p:spTree>
    <p:extLst>
      <p:ext uri="{BB962C8B-B14F-4D97-AF65-F5344CB8AC3E}">
        <p14:creationId xmlns:p14="http://schemas.microsoft.com/office/powerpoint/2010/main" val="539565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solidFill>
                  <a:srgbClr val="21314D"/>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a:xfrm>
            <a:off x="5183188" y="987427"/>
            <a:ext cx="6172200" cy="4873625"/>
          </a:xfrm>
        </p:spPr>
        <p:txBody>
          <a:bodyPr/>
          <a:lstStyle>
            <a:lvl1pPr>
              <a:lnSpc>
                <a:spcPct val="110000"/>
              </a:lnSpc>
              <a:spcBef>
                <a:spcPts val="1000"/>
              </a:spcBef>
              <a:defRPr sz="3200">
                <a:latin typeface="Arial" panose="020B0604020202020204" pitchFamily="34" charset="0"/>
                <a:cs typeface="Arial" panose="020B0604020202020204" pitchFamily="34" charset="0"/>
              </a:defRPr>
            </a:lvl1pPr>
            <a:lvl2pPr>
              <a:lnSpc>
                <a:spcPct val="110000"/>
              </a:lnSpc>
              <a:spcBef>
                <a:spcPts val="1000"/>
              </a:spcBef>
              <a:defRPr sz="2800">
                <a:latin typeface="Arial" panose="020B0604020202020204" pitchFamily="34" charset="0"/>
                <a:cs typeface="Arial" panose="020B0604020202020204" pitchFamily="34" charset="0"/>
              </a:defRPr>
            </a:lvl2pPr>
            <a:lvl3pPr>
              <a:lnSpc>
                <a:spcPct val="110000"/>
              </a:lnSpc>
              <a:spcBef>
                <a:spcPts val="1000"/>
              </a:spcBef>
              <a:defRPr sz="2400">
                <a:latin typeface="Arial" panose="020B0604020202020204" pitchFamily="34" charset="0"/>
                <a:cs typeface="Arial" panose="020B0604020202020204" pitchFamily="34" charset="0"/>
              </a:defRPr>
            </a:lvl3pPr>
            <a:lvl4pPr>
              <a:lnSpc>
                <a:spcPct val="110000"/>
              </a:lnSpc>
              <a:spcBef>
                <a:spcPts val="1000"/>
              </a:spcBef>
              <a:defRPr sz="2000">
                <a:latin typeface="Arial" panose="020B0604020202020204" pitchFamily="34" charset="0"/>
                <a:cs typeface="Arial" panose="020B0604020202020204" pitchFamily="34" charset="0"/>
              </a:defRPr>
            </a:lvl4pPr>
            <a:lvl5pPr>
              <a:lnSpc>
                <a:spcPct val="110000"/>
              </a:lnSpc>
              <a:spcBef>
                <a:spcPts val="1000"/>
              </a:spcBef>
              <a:defRPr sz="2000">
                <a:latin typeface="Arial" panose="020B0604020202020204" pitchFamily="34" charset="0"/>
                <a:cs typeface="Arial" panose="020B0604020202020204"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lnSpc>
                <a:spcPct val="110000"/>
              </a:lnSpc>
              <a:spcBef>
                <a:spcPts val="1000"/>
              </a:spcBef>
              <a:buNone/>
              <a:defRPr sz="1600">
                <a:latin typeface="Arial" panose="020B0604020202020204" pitchFamily="34" charset="0"/>
                <a:cs typeface="Arial" panose="020B0604020202020204" pitchFamily="34"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Click to edit Master text styles</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10/29/2025</a:t>
            </a:fld>
            <a:endParaRPr lang="en-US"/>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9" name="Rectangle 8"/>
          <p:cNvSpPr/>
          <p:nvPr userDrawn="1"/>
        </p:nvSpPr>
        <p:spPr>
          <a:xfrm>
            <a:off x="-9728" y="6265545"/>
            <a:ext cx="12201728" cy="592455"/>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1" name="TextBox 10">
            <a:extLst>
              <a:ext uri="{FF2B5EF4-FFF2-40B4-BE49-F238E27FC236}">
                <a16:creationId xmlns:a16="http://schemas.microsoft.com/office/drawing/2014/main" id="{8D816478-27A8-5948-917C-6E6357F4BB0B}"/>
              </a:ext>
            </a:extLst>
          </p:cNvPr>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Arial" panose="020B0604020202020204" pitchFamily="34" charset="0"/>
                <a:ea typeface="Gotham Bold" charset="0"/>
                <a:cs typeface="Arial" panose="020B0604020202020204" pitchFamily="34" charset="0"/>
              </a:rPr>
              <a:t>MINES</a:t>
            </a:r>
            <a:r>
              <a:rPr lang="en-US" sz="1800" b="1" i="0" dirty="0">
                <a:solidFill>
                  <a:srgbClr val="D2492A"/>
                </a:solidFill>
                <a:latin typeface="Arial" panose="020B0604020202020204" pitchFamily="34" charset="0"/>
                <a:ea typeface="Gotham Bold" charset="0"/>
                <a:cs typeface="Arial" panose="020B0604020202020204" pitchFamily="34" charset="0"/>
              </a:rPr>
              <a:t>.</a:t>
            </a:r>
            <a:r>
              <a:rPr lang="en-US" sz="1800" b="0" i="0" dirty="0">
                <a:solidFill>
                  <a:srgbClr val="92A2BD"/>
                </a:solidFill>
                <a:latin typeface="Arial" panose="020B0604020202020204" pitchFamily="34" charset="0"/>
                <a:ea typeface="Gotham Book" charset="0"/>
                <a:cs typeface="Arial" panose="020B0604020202020204" pitchFamily="34" charset="0"/>
              </a:rPr>
              <a:t>EDU</a:t>
            </a:r>
          </a:p>
        </p:txBody>
      </p:sp>
      <p:pic>
        <p:nvPicPr>
          <p:cNvPr id="8" name="Picture 7">
            <a:extLst>
              <a:ext uri="{FF2B5EF4-FFF2-40B4-BE49-F238E27FC236}">
                <a16:creationId xmlns:a16="http://schemas.microsoft.com/office/drawing/2014/main" id="{7448B8BD-47E4-BA26-18C9-82B1C346D6BE}"/>
              </a:ext>
            </a:extLst>
          </p:cNvPr>
          <p:cNvPicPr/>
          <p:nvPr userDrawn="1"/>
        </p:nvPicPr>
        <p:blipFill>
          <a:blip r:embed="rId2"/>
          <a:srcRect/>
          <a:stretch/>
        </p:blipFill>
        <p:spPr bwMode="auto">
          <a:xfrm>
            <a:off x="206066" y="6280773"/>
            <a:ext cx="4447184" cy="54172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581501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userDrawn="1"/>
        </p:nvSpPr>
        <p:spPr>
          <a:xfrm>
            <a:off x="-10048" y="-10049"/>
            <a:ext cx="5183189" cy="6943412"/>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hasCustomPrompt="1"/>
          </p:nvPr>
        </p:nvSpPr>
        <p:spPr>
          <a:xfrm>
            <a:off x="450058" y="472281"/>
            <a:ext cx="3932237" cy="1600200"/>
          </a:xfrm>
        </p:spPr>
        <p:txBody>
          <a:bodyPr anchor="b">
            <a:normAutofit/>
          </a:bodyPr>
          <a:lstStyle>
            <a:lvl1pPr>
              <a:defRPr sz="4400">
                <a:solidFill>
                  <a:schemeClr val="bg1"/>
                </a:solidFill>
                <a:latin typeface="Arial" panose="020B0604020202020204" pitchFamily="34" charset="0"/>
                <a:cs typeface="Arial" panose="020B0604020202020204" pitchFamily="34" charset="0"/>
              </a:defRPr>
            </a:lvl1pPr>
          </a:lstStyle>
          <a:p>
            <a:r>
              <a:rPr lang="en-US" dirty="0"/>
              <a:t>Copy goes here</a:t>
            </a:r>
          </a:p>
        </p:txBody>
      </p:sp>
      <p:sp>
        <p:nvSpPr>
          <p:cNvPr id="3" name="Picture Placeholder 2"/>
          <p:cNvSpPr>
            <a:spLocks noGrp="1"/>
          </p:cNvSpPr>
          <p:nvPr>
            <p:ph type="pic" idx="1"/>
          </p:nvPr>
        </p:nvSpPr>
        <p:spPr>
          <a:xfrm>
            <a:off x="5183189" y="2"/>
            <a:ext cx="7008812" cy="6857999"/>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hasCustomPrompt="1"/>
          </p:nvPr>
        </p:nvSpPr>
        <p:spPr>
          <a:xfrm>
            <a:off x="450058" y="2072481"/>
            <a:ext cx="3932237" cy="3811588"/>
          </a:xfrm>
        </p:spPr>
        <p:txBody>
          <a:bodyPr>
            <a:normAutofit/>
          </a:bodyPr>
          <a:lstStyle>
            <a:lvl1pPr marL="457189" indent="-457189">
              <a:lnSpc>
                <a:spcPct val="110000"/>
              </a:lnSpc>
              <a:buFont typeface="Arial" charset="0"/>
              <a:buChar char="•"/>
              <a:defRPr sz="2800">
                <a:solidFill>
                  <a:schemeClr val="bg1"/>
                </a:solidFill>
                <a:latin typeface="Arial" panose="020B0604020202020204" pitchFamily="34" charset="0"/>
                <a:cs typeface="Arial" panose="020B0604020202020204" pitchFamily="34"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Supporting text goes here</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10/29/2025</a:t>
            </a:fld>
            <a:endParaRPr lang="en-US"/>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pic>
        <p:nvPicPr>
          <p:cNvPr id="10" name="Picture 9">
            <a:extLst>
              <a:ext uri="{FF2B5EF4-FFF2-40B4-BE49-F238E27FC236}">
                <a16:creationId xmlns:a16="http://schemas.microsoft.com/office/drawing/2014/main" id="{E5011787-6647-5942-9F4B-BDC014410AEA}"/>
              </a:ext>
            </a:extLst>
          </p:cNvPr>
          <p:cNvPicPr/>
          <p:nvPr userDrawn="1"/>
        </p:nvPicPr>
        <p:blipFill>
          <a:blip r:embed="rId2"/>
          <a:srcRect/>
          <a:stretch/>
        </p:blipFill>
        <p:spPr bwMode="auto">
          <a:xfrm>
            <a:off x="206066" y="6280773"/>
            <a:ext cx="4447184" cy="54172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851661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21314D"/>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lnSpc>
                <a:spcPct val="110000"/>
              </a:lnSpc>
              <a:spcBef>
                <a:spcPts val="1000"/>
              </a:spcBef>
              <a:defRPr>
                <a:latin typeface="Arial" panose="020B0604020202020204" pitchFamily="34" charset="0"/>
                <a:cs typeface="Arial" panose="020B0604020202020204" pitchFamily="34" charset="0"/>
              </a:defRPr>
            </a:lvl1pPr>
            <a:lvl2pPr>
              <a:lnSpc>
                <a:spcPct val="110000"/>
              </a:lnSpc>
              <a:spcBef>
                <a:spcPts val="1000"/>
              </a:spcBef>
              <a:defRPr>
                <a:latin typeface="Arial" panose="020B0604020202020204" pitchFamily="34" charset="0"/>
                <a:cs typeface="Arial" panose="020B0604020202020204" pitchFamily="34" charset="0"/>
              </a:defRPr>
            </a:lvl2pPr>
            <a:lvl3pPr>
              <a:lnSpc>
                <a:spcPct val="110000"/>
              </a:lnSpc>
              <a:spcBef>
                <a:spcPts val="1000"/>
              </a:spcBef>
              <a:defRPr>
                <a:latin typeface="Arial" panose="020B0604020202020204" pitchFamily="34" charset="0"/>
                <a:cs typeface="Arial" panose="020B0604020202020204" pitchFamily="34" charset="0"/>
              </a:defRPr>
            </a:lvl3pPr>
            <a:lvl4pPr>
              <a:lnSpc>
                <a:spcPct val="110000"/>
              </a:lnSpc>
              <a:spcBef>
                <a:spcPts val="1000"/>
              </a:spcBef>
              <a:defRPr>
                <a:latin typeface="Arial" panose="020B0604020202020204" pitchFamily="34" charset="0"/>
                <a:cs typeface="Arial" panose="020B0604020202020204" pitchFamily="34" charset="0"/>
              </a:defRPr>
            </a:lvl4pPr>
            <a:lvl5pPr>
              <a:lnSpc>
                <a:spcPct val="110000"/>
              </a:lnSpc>
              <a:spcBef>
                <a:spcPts val="1000"/>
              </a:spcBef>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10/29/2025</a:t>
            </a:fld>
            <a:endParaRPr lang="en-US"/>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7" name="Rectangle 6"/>
          <p:cNvSpPr/>
          <p:nvPr userDrawn="1"/>
        </p:nvSpPr>
        <p:spPr>
          <a:xfrm>
            <a:off x="-10048" y="6265545"/>
            <a:ext cx="12202048" cy="601701"/>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2" name="TextBox 11">
            <a:extLst>
              <a:ext uri="{FF2B5EF4-FFF2-40B4-BE49-F238E27FC236}">
                <a16:creationId xmlns:a16="http://schemas.microsoft.com/office/drawing/2014/main" id="{6C529638-9519-5646-BC6C-4C995584BC00}"/>
              </a:ext>
            </a:extLst>
          </p:cNvPr>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Arial" panose="020B0604020202020204" pitchFamily="34" charset="0"/>
                <a:ea typeface="Gotham Bold" charset="0"/>
                <a:cs typeface="Arial" panose="020B0604020202020204" pitchFamily="34" charset="0"/>
              </a:rPr>
              <a:t>MINES</a:t>
            </a:r>
            <a:r>
              <a:rPr lang="en-US" sz="1800" b="1" i="0" dirty="0">
                <a:solidFill>
                  <a:srgbClr val="D2492A"/>
                </a:solidFill>
                <a:latin typeface="Arial" panose="020B0604020202020204" pitchFamily="34" charset="0"/>
                <a:ea typeface="Gotham Bold" charset="0"/>
                <a:cs typeface="Arial" panose="020B0604020202020204" pitchFamily="34" charset="0"/>
              </a:rPr>
              <a:t>.</a:t>
            </a:r>
            <a:r>
              <a:rPr lang="en-US" sz="1800" b="0" i="0" dirty="0">
                <a:solidFill>
                  <a:srgbClr val="92A2BD"/>
                </a:solidFill>
                <a:latin typeface="Arial" panose="020B0604020202020204" pitchFamily="34" charset="0"/>
                <a:ea typeface="Gotham Book" charset="0"/>
                <a:cs typeface="Arial" panose="020B0604020202020204" pitchFamily="34" charset="0"/>
              </a:rPr>
              <a:t>EDU</a:t>
            </a:r>
          </a:p>
        </p:txBody>
      </p:sp>
      <p:pic>
        <p:nvPicPr>
          <p:cNvPr id="9" name="Picture 8">
            <a:extLst>
              <a:ext uri="{FF2B5EF4-FFF2-40B4-BE49-F238E27FC236}">
                <a16:creationId xmlns:a16="http://schemas.microsoft.com/office/drawing/2014/main" id="{A6189CE5-3B4F-9290-A094-E256477AE255}"/>
              </a:ext>
            </a:extLst>
          </p:cNvPr>
          <p:cNvPicPr/>
          <p:nvPr userDrawn="1"/>
        </p:nvPicPr>
        <p:blipFill>
          <a:blip r:embed="rId2"/>
          <a:srcRect/>
          <a:stretch/>
        </p:blipFill>
        <p:spPr bwMode="auto">
          <a:xfrm>
            <a:off x="206066" y="6280773"/>
            <a:ext cx="4447184" cy="54172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3676384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lvl1pPr>
              <a:defRPr>
                <a:solidFill>
                  <a:srgbClr val="21314D"/>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lvl1pPr>
              <a:lnSpc>
                <a:spcPct val="110000"/>
              </a:lnSpc>
              <a:spcBef>
                <a:spcPts val="1000"/>
              </a:spcBef>
              <a:defRPr>
                <a:latin typeface="Arial" panose="020B0604020202020204" pitchFamily="34" charset="0"/>
                <a:cs typeface="Arial" panose="020B0604020202020204" pitchFamily="34" charset="0"/>
              </a:defRPr>
            </a:lvl1pPr>
            <a:lvl2pPr>
              <a:lnSpc>
                <a:spcPct val="110000"/>
              </a:lnSpc>
              <a:spcBef>
                <a:spcPts val="1000"/>
              </a:spcBef>
              <a:defRPr>
                <a:latin typeface="Arial" panose="020B0604020202020204" pitchFamily="34" charset="0"/>
                <a:cs typeface="Arial" panose="020B0604020202020204" pitchFamily="34" charset="0"/>
              </a:defRPr>
            </a:lvl2pPr>
            <a:lvl3pPr>
              <a:lnSpc>
                <a:spcPct val="110000"/>
              </a:lnSpc>
              <a:spcBef>
                <a:spcPts val="1000"/>
              </a:spcBef>
              <a:defRPr>
                <a:latin typeface="Arial" panose="020B0604020202020204" pitchFamily="34" charset="0"/>
                <a:cs typeface="Arial" panose="020B0604020202020204" pitchFamily="34" charset="0"/>
              </a:defRPr>
            </a:lvl3pPr>
            <a:lvl4pPr>
              <a:lnSpc>
                <a:spcPct val="110000"/>
              </a:lnSpc>
              <a:spcBef>
                <a:spcPts val="1000"/>
              </a:spcBef>
              <a:defRPr>
                <a:latin typeface="Arial" panose="020B0604020202020204" pitchFamily="34" charset="0"/>
                <a:cs typeface="Arial" panose="020B0604020202020204" pitchFamily="34" charset="0"/>
              </a:defRPr>
            </a:lvl4pPr>
            <a:lvl5pPr>
              <a:lnSpc>
                <a:spcPct val="110000"/>
              </a:lnSpc>
              <a:spcBef>
                <a:spcPts val="1000"/>
              </a:spcBef>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10/29/2025</a:t>
            </a:fld>
            <a:endParaRPr lang="en-US"/>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7" name="Rectangle 6"/>
          <p:cNvSpPr/>
          <p:nvPr userDrawn="1"/>
        </p:nvSpPr>
        <p:spPr>
          <a:xfrm>
            <a:off x="-10048" y="6265545"/>
            <a:ext cx="12202048" cy="601701"/>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2" name="TextBox 11">
            <a:extLst>
              <a:ext uri="{FF2B5EF4-FFF2-40B4-BE49-F238E27FC236}">
                <a16:creationId xmlns:a16="http://schemas.microsoft.com/office/drawing/2014/main" id="{1C06899B-D311-B446-8DBB-7D61E82846C1}"/>
              </a:ext>
            </a:extLst>
          </p:cNvPr>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Arial" panose="020B0604020202020204" pitchFamily="34" charset="0"/>
                <a:ea typeface="Gotham Bold" charset="0"/>
                <a:cs typeface="Arial" panose="020B0604020202020204" pitchFamily="34" charset="0"/>
              </a:rPr>
              <a:t>MINES</a:t>
            </a:r>
            <a:r>
              <a:rPr lang="en-US" sz="1800" b="1" i="0" dirty="0">
                <a:solidFill>
                  <a:srgbClr val="D2492A"/>
                </a:solidFill>
                <a:latin typeface="Arial" panose="020B0604020202020204" pitchFamily="34" charset="0"/>
                <a:ea typeface="Gotham Bold" charset="0"/>
                <a:cs typeface="Arial" panose="020B0604020202020204" pitchFamily="34" charset="0"/>
              </a:rPr>
              <a:t>.</a:t>
            </a:r>
            <a:r>
              <a:rPr lang="en-US" sz="1800" b="0" i="0" dirty="0">
                <a:solidFill>
                  <a:srgbClr val="92A2BD"/>
                </a:solidFill>
                <a:latin typeface="Arial" panose="020B0604020202020204" pitchFamily="34" charset="0"/>
                <a:ea typeface="Gotham Book" charset="0"/>
                <a:cs typeface="Arial" panose="020B0604020202020204" pitchFamily="34" charset="0"/>
              </a:rPr>
              <a:t>EDU</a:t>
            </a:r>
          </a:p>
        </p:txBody>
      </p:sp>
      <p:pic>
        <p:nvPicPr>
          <p:cNvPr id="9" name="Picture 8">
            <a:extLst>
              <a:ext uri="{FF2B5EF4-FFF2-40B4-BE49-F238E27FC236}">
                <a16:creationId xmlns:a16="http://schemas.microsoft.com/office/drawing/2014/main" id="{860BE653-895E-393E-A5A0-0F7158B8B6A5}"/>
              </a:ext>
            </a:extLst>
          </p:cNvPr>
          <p:cNvPicPr/>
          <p:nvPr userDrawn="1"/>
        </p:nvPicPr>
        <p:blipFill>
          <a:blip r:embed="rId2"/>
          <a:srcRect/>
          <a:stretch/>
        </p:blipFill>
        <p:spPr bwMode="auto">
          <a:xfrm>
            <a:off x="206066" y="6280773"/>
            <a:ext cx="4447184" cy="54172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3814847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57347766"/>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2" r:id="rId4"/>
    <p:sldLayoutId id="2147483653" r:id="rId5"/>
    <p:sldLayoutId id="2147483654" r:id="rId6"/>
    <p:sldLayoutId id="2147483655" r:id="rId7"/>
    <p:sldLayoutId id="2147483661" r:id="rId8"/>
    <p:sldLayoutId id="2147483660" r:id="rId9"/>
    <p:sldLayoutId id="2147483656" r:id="rId10"/>
    <p:sldLayoutId id="2147483657" r:id="rId11"/>
    <p:sldLayoutId id="2147483658" r:id="rId12"/>
    <p:sldLayoutId id="2147483659" r:id="rId13"/>
  </p:sldLayoutIdLst>
  <p:txStyles>
    <p:titleStyle>
      <a:lvl1pPr algn="l" defTabSz="914377" rtl="0" eaLnBrk="1" latinLnBrk="0" hangingPunct="1">
        <a:lnSpc>
          <a:spcPct val="90000"/>
        </a:lnSpc>
        <a:spcBef>
          <a:spcPct val="0"/>
        </a:spcBef>
        <a:buNone/>
        <a:defRPr sz="4400" b="1" i="0" kern="1200">
          <a:solidFill>
            <a:srgbClr val="21314D"/>
          </a:solidFill>
          <a:latin typeface="Arial" panose="020B0604020202020204" pitchFamily="34" charset="0"/>
          <a:ea typeface="Arial" panose="020B0604020202020204" pitchFamily="34" charset="0"/>
          <a:cs typeface="Arial" panose="020B0604020202020204" pitchFamily="34" charset="0"/>
        </a:defRPr>
      </a:lvl1pPr>
    </p:titleStyle>
    <p:bodyStyle>
      <a:lvl1pPr marL="228594" indent="-228594" algn="l" defTabSz="914377" rtl="0" eaLnBrk="1" latinLnBrk="0" hangingPunct="1">
        <a:lnSpc>
          <a:spcPct val="110000"/>
        </a:lnSpc>
        <a:spcBef>
          <a:spcPts val="1000"/>
        </a:spcBef>
        <a:buFont typeface="Arial"/>
        <a:buChar char="•"/>
        <a:defRPr sz="2800" b="0" i="0" kern="1200">
          <a:solidFill>
            <a:schemeClr val="tx1"/>
          </a:solidFill>
          <a:latin typeface="Arial" panose="020B0604020202020204" pitchFamily="34" charset="0"/>
          <a:ea typeface="Arial" panose="020B0604020202020204" pitchFamily="34" charset="0"/>
          <a:cs typeface="Arial" panose="020B0604020202020204" pitchFamily="34" charset="0"/>
        </a:defRPr>
      </a:lvl1pPr>
      <a:lvl2pPr marL="685783" indent="-228594" algn="l" defTabSz="914377" rtl="0" eaLnBrk="1" latinLnBrk="0" hangingPunct="1">
        <a:lnSpc>
          <a:spcPct val="110000"/>
        </a:lnSpc>
        <a:spcBef>
          <a:spcPts val="1000"/>
        </a:spcBef>
        <a:buFont typeface="Arial"/>
        <a:buChar char="•"/>
        <a:defRPr sz="2400" b="0" i="0" kern="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2971" indent="-228594" algn="l" defTabSz="914377" rtl="0" eaLnBrk="1" latinLnBrk="0" hangingPunct="1">
        <a:lnSpc>
          <a:spcPct val="110000"/>
        </a:lnSpc>
        <a:spcBef>
          <a:spcPts val="1000"/>
        </a:spcBef>
        <a:buFont typeface="Arial"/>
        <a:buChar char="•"/>
        <a:defRPr sz="2000" b="0" i="0" kern="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160" indent="-228594" algn="l" defTabSz="914377" rtl="0" eaLnBrk="1" latinLnBrk="0" hangingPunct="1">
        <a:lnSpc>
          <a:spcPct val="110000"/>
        </a:lnSpc>
        <a:spcBef>
          <a:spcPts val="1000"/>
        </a:spcBef>
        <a:buFont typeface="Arial"/>
        <a:buChar char="•"/>
        <a:defRPr sz="1800" b="0" i="0" kern="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349" indent="-228594" algn="l" defTabSz="914377" rtl="0" eaLnBrk="1" latinLnBrk="0" hangingPunct="1">
        <a:lnSpc>
          <a:spcPct val="110000"/>
        </a:lnSpc>
        <a:spcBef>
          <a:spcPts val="1000"/>
        </a:spcBef>
        <a:buFont typeface="Arial"/>
        <a:buChar char="•"/>
        <a:defRPr sz="1800" b="0" i="0" kern="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537"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5.xml"/><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 Id="rId5" Type="http://schemas.openxmlformats.org/officeDocument/2006/relationships/image" Target="../media/image19.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 Id="rId5" Type="http://schemas.openxmlformats.org/officeDocument/2006/relationships/image" Target="../media/image23.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353F3-FA3E-33F6-096A-89F8DDBEAA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DFE8E6-B945-FE6D-5FB2-788A21230F75}"/>
              </a:ext>
            </a:extLst>
          </p:cNvPr>
          <p:cNvSpPr>
            <a:spLocks noGrp="1"/>
          </p:cNvSpPr>
          <p:nvPr>
            <p:ph type="ctrTitle"/>
          </p:nvPr>
        </p:nvSpPr>
        <p:spPr>
          <a:xfrm>
            <a:off x="395371" y="1629624"/>
            <a:ext cx="10867140" cy="2199991"/>
          </a:xfrm>
        </p:spPr>
        <p:txBody>
          <a:bodyPr>
            <a:normAutofit/>
          </a:bodyPr>
          <a:lstStyle/>
          <a:p>
            <a:r>
              <a:rPr lang="en-US" sz="3900" dirty="0"/>
              <a:t>Colorado School of Mines</a:t>
            </a:r>
            <a:br>
              <a:rPr lang="en-US" sz="3900" dirty="0"/>
            </a:br>
            <a:r>
              <a:rPr lang="en-US" sz="3900" dirty="0"/>
              <a:t>Space Grant Robotics Team</a:t>
            </a:r>
            <a:br>
              <a:rPr lang="en-US" dirty="0"/>
            </a:br>
            <a:r>
              <a:rPr lang="en-US" dirty="0"/>
              <a:t>Preliminary Design Review</a:t>
            </a:r>
          </a:p>
        </p:txBody>
      </p:sp>
      <p:sp>
        <p:nvSpPr>
          <p:cNvPr id="3" name="Subtitle 2">
            <a:extLst>
              <a:ext uri="{FF2B5EF4-FFF2-40B4-BE49-F238E27FC236}">
                <a16:creationId xmlns:a16="http://schemas.microsoft.com/office/drawing/2014/main" id="{2D9CD58B-68B9-1271-3C6C-537C51EFBFA3}"/>
              </a:ext>
            </a:extLst>
          </p:cNvPr>
          <p:cNvSpPr>
            <a:spLocks noGrp="1"/>
          </p:cNvSpPr>
          <p:nvPr>
            <p:ph type="subTitle" idx="1"/>
          </p:nvPr>
        </p:nvSpPr>
        <p:spPr/>
        <p:txBody>
          <a:bodyPr/>
          <a:lstStyle/>
          <a:p>
            <a:r>
              <a:rPr lang="en-US" dirty="0"/>
              <a:t>Three Robots One Dream</a:t>
            </a:r>
          </a:p>
        </p:txBody>
      </p:sp>
    </p:spTree>
    <p:extLst>
      <p:ext uri="{BB962C8B-B14F-4D97-AF65-F5344CB8AC3E}">
        <p14:creationId xmlns:p14="http://schemas.microsoft.com/office/powerpoint/2010/main" val="2727822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27289-F4BB-0926-5FDD-622F522463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1DD780-3057-A8C7-AEAF-54A837EB4AD9}"/>
              </a:ext>
            </a:extLst>
          </p:cNvPr>
          <p:cNvSpPr>
            <a:spLocks noGrp="1"/>
          </p:cNvSpPr>
          <p:nvPr>
            <p:ph type="title"/>
          </p:nvPr>
        </p:nvSpPr>
        <p:spPr>
          <a:xfrm>
            <a:off x="450058" y="204652"/>
            <a:ext cx="3932237" cy="1600200"/>
          </a:xfrm>
        </p:spPr>
        <p:txBody>
          <a:bodyPr>
            <a:normAutofit/>
          </a:bodyPr>
          <a:lstStyle/>
          <a:p>
            <a:r>
              <a:rPr lang="en-US" dirty="0"/>
              <a:t>Max Smith</a:t>
            </a:r>
          </a:p>
        </p:txBody>
      </p:sp>
      <p:sp>
        <p:nvSpPr>
          <p:cNvPr id="4" name="Text Placeholder 3">
            <a:extLst>
              <a:ext uri="{FF2B5EF4-FFF2-40B4-BE49-F238E27FC236}">
                <a16:creationId xmlns:a16="http://schemas.microsoft.com/office/drawing/2014/main" id="{FD19CB6D-6BC5-4B4A-C10D-8564A5F5B011}"/>
              </a:ext>
            </a:extLst>
          </p:cNvPr>
          <p:cNvSpPr>
            <a:spLocks noGrp="1"/>
          </p:cNvSpPr>
          <p:nvPr>
            <p:ph type="body" sz="half" idx="2"/>
          </p:nvPr>
        </p:nvSpPr>
        <p:spPr>
          <a:xfrm>
            <a:off x="450058" y="2072480"/>
            <a:ext cx="4333815" cy="4071841"/>
          </a:xfrm>
        </p:spPr>
        <p:txBody>
          <a:bodyPr>
            <a:normAutofit/>
          </a:bodyPr>
          <a:lstStyle/>
          <a:p>
            <a:pPr marL="0" indent="0">
              <a:lnSpc>
                <a:spcPct val="120000"/>
              </a:lnSpc>
              <a:buNone/>
            </a:pPr>
            <a:r>
              <a:rPr lang="en-US" sz="2900" b="1" dirty="0"/>
              <a:t>Major: Electrical Eng.</a:t>
            </a:r>
          </a:p>
          <a:p>
            <a:pPr marL="0" indent="0">
              <a:lnSpc>
                <a:spcPct val="120000"/>
              </a:lnSpc>
              <a:buNone/>
            </a:pPr>
            <a:r>
              <a:rPr lang="en-US" sz="2900" b="1" dirty="0"/>
              <a:t>Minor: Mechanical Eng.</a:t>
            </a:r>
          </a:p>
          <a:p>
            <a:pPr marL="0" indent="0">
              <a:lnSpc>
                <a:spcPct val="120000"/>
              </a:lnSpc>
              <a:buNone/>
            </a:pPr>
            <a:r>
              <a:rPr lang="en-US" sz="2900" b="1" dirty="0"/>
              <a:t>Role: Team Lead</a:t>
            </a:r>
          </a:p>
          <a:p>
            <a:pPr marL="0" indent="0">
              <a:lnSpc>
                <a:spcPct val="120000"/>
              </a:lnSpc>
              <a:buNone/>
            </a:pPr>
            <a:r>
              <a:rPr lang="en-US" sz="2900" b="1" dirty="0"/>
              <a:t>Interests: Video Games</a:t>
            </a:r>
          </a:p>
          <a:p>
            <a:pPr marL="0" indent="0">
              <a:lnSpc>
                <a:spcPct val="120000"/>
              </a:lnSpc>
              <a:buNone/>
            </a:pPr>
            <a:r>
              <a:rPr lang="en-US" sz="2900" b="1" dirty="0"/>
              <a:t>	        Cooking</a:t>
            </a:r>
          </a:p>
          <a:p>
            <a:pPr marL="0" indent="0">
              <a:lnSpc>
                <a:spcPct val="120000"/>
              </a:lnSpc>
              <a:buNone/>
            </a:pPr>
            <a:r>
              <a:rPr lang="en-US" sz="2900" b="1" dirty="0"/>
              <a:t>    	        Cars</a:t>
            </a:r>
          </a:p>
        </p:txBody>
      </p:sp>
      <p:pic>
        <p:nvPicPr>
          <p:cNvPr id="1028" name="Picture 4" descr="A person taking a selfie&#10;&#10;Description automatically generated">
            <a:extLst>
              <a:ext uri="{FF2B5EF4-FFF2-40B4-BE49-F238E27FC236}">
                <a16:creationId xmlns:a16="http://schemas.microsoft.com/office/drawing/2014/main" id="{F96B2469-2515-7625-DAE3-6B52400FF6A6}"/>
              </a:ext>
            </a:extLst>
          </p:cNvPr>
          <p:cNvPicPr>
            <a:picLocks noGrp="1" noChangeAspect="1" noChangeArrowheads="1"/>
          </p:cNvPicPr>
          <p:nvPr>
            <p:ph type="pic" idx="1"/>
          </p:nvPr>
        </p:nvPicPr>
        <p:blipFill>
          <a:blip r:embed="rId3">
            <a:extLst>
              <a:ext uri="{28A0092B-C50C-407E-A947-70E740481C1C}">
                <a14:useLocalDpi xmlns:a14="http://schemas.microsoft.com/office/drawing/2010/main" val="0"/>
              </a:ext>
            </a:extLst>
          </a:blip>
          <a:srcRect l="23" r="23"/>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45574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Presentation title goes here</a:t>
            </a:r>
          </a:p>
        </p:txBody>
      </p:sp>
      <p:sp>
        <p:nvSpPr>
          <p:cNvPr id="3" name="Subtitle 2"/>
          <p:cNvSpPr>
            <a:spLocks noGrp="1"/>
          </p:cNvSpPr>
          <p:nvPr>
            <p:ph type="subTitle" idx="1"/>
          </p:nvPr>
        </p:nvSpPr>
        <p:spPr/>
        <p:txBody>
          <a:bodyPr/>
          <a:lstStyle/>
          <a:p>
            <a:r>
              <a:rPr lang="en-US" dirty="0"/>
              <a:t>Subtitle goes here</a:t>
            </a:r>
          </a:p>
        </p:txBody>
      </p:sp>
    </p:spTree>
    <p:extLst>
      <p:ext uri="{BB962C8B-B14F-4D97-AF65-F5344CB8AC3E}">
        <p14:creationId xmlns:p14="http://schemas.microsoft.com/office/powerpoint/2010/main" val="2018888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25594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3798" y="365127"/>
            <a:ext cx="7610001" cy="1325563"/>
          </a:xfrm>
        </p:spPr>
        <p:txBody>
          <a:bodyPr/>
          <a:lstStyle/>
          <a:p>
            <a:r>
              <a:rPr lang="en-US" dirty="0"/>
              <a:t>Colorado School of Mines</a:t>
            </a:r>
          </a:p>
        </p:txBody>
      </p:sp>
      <p:sp>
        <p:nvSpPr>
          <p:cNvPr id="3" name="Content Placeholder 2"/>
          <p:cNvSpPr>
            <a:spLocks noGrp="1"/>
          </p:cNvSpPr>
          <p:nvPr>
            <p:ph sz="half" idx="1"/>
          </p:nvPr>
        </p:nvSpPr>
        <p:spPr>
          <a:xfrm>
            <a:off x="3743798" y="1435207"/>
            <a:ext cx="7701613" cy="1225800"/>
          </a:xfrm>
        </p:spPr>
        <p:txBody>
          <a:bodyPr>
            <a:normAutofit fontScale="92500"/>
          </a:bodyPr>
          <a:lstStyle/>
          <a:p>
            <a:pPr marL="0" indent="0">
              <a:buNone/>
            </a:pPr>
            <a:r>
              <a:rPr lang="en-US" b="1" dirty="0">
                <a:solidFill>
                  <a:srgbClr val="CC4628"/>
                </a:solidFill>
              </a:rPr>
              <a:t>Colorado’s premier engineering and applied science university for 150 years and counting…</a:t>
            </a:r>
          </a:p>
        </p:txBody>
      </p:sp>
      <p:sp>
        <p:nvSpPr>
          <p:cNvPr id="5" name="Content Placeholder 2">
            <a:extLst>
              <a:ext uri="{FF2B5EF4-FFF2-40B4-BE49-F238E27FC236}">
                <a16:creationId xmlns:a16="http://schemas.microsoft.com/office/drawing/2014/main" id="{76B04855-269D-A855-7998-BF477CD6EF32}"/>
              </a:ext>
            </a:extLst>
          </p:cNvPr>
          <p:cNvSpPr txBox="1">
            <a:spLocks/>
          </p:cNvSpPr>
          <p:nvPr/>
        </p:nvSpPr>
        <p:spPr>
          <a:xfrm>
            <a:off x="3743798" y="3051424"/>
            <a:ext cx="7497226" cy="2722651"/>
          </a:xfrm>
          <a:prstGeom prst="rect">
            <a:avLst/>
          </a:prstGeom>
        </p:spPr>
        <p:txBody>
          <a:bodyPr vert="horz" lIns="91440" tIns="45720" rIns="91440" bIns="45720" rtlCol="0">
            <a:normAutofit fontScale="70000" lnSpcReduction="20000"/>
          </a:bodyPr>
          <a:lstStyle>
            <a:lvl1pPr marL="228594" indent="-228594" algn="l" defTabSz="914377" rtl="0" eaLnBrk="1" latinLnBrk="0" hangingPunct="1">
              <a:lnSpc>
                <a:spcPct val="90000"/>
              </a:lnSpc>
              <a:spcBef>
                <a:spcPts val="1000"/>
              </a:spcBef>
              <a:buFont typeface="Arial"/>
              <a:buChar char="•"/>
              <a:defRPr sz="2800" b="0" i="0" kern="1200">
                <a:solidFill>
                  <a:schemeClr val="tx1"/>
                </a:solidFill>
                <a:latin typeface="Arial" panose="020B0604020202020204" pitchFamily="34" charset="0"/>
                <a:ea typeface="Arial" panose="020B0604020202020204" pitchFamily="34" charset="0"/>
                <a:cs typeface="Arial" panose="020B0604020202020204" pitchFamily="34" charset="0"/>
              </a:defRPr>
            </a:lvl1pPr>
            <a:lvl2pPr marL="685783" indent="-228594" algn="l" defTabSz="914377" rtl="0" eaLnBrk="1" latinLnBrk="0" hangingPunct="1">
              <a:lnSpc>
                <a:spcPct val="90000"/>
              </a:lnSpc>
              <a:spcBef>
                <a:spcPts val="500"/>
              </a:spcBef>
              <a:buFont typeface="Arial"/>
              <a:buChar char="•"/>
              <a:defRPr sz="2400" b="0" i="0" kern="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2971" indent="-228594" algn="l" defTabSz="914377" rtl="0" eaLnBrk="1" latinLnBrk="0" hangingPunct="1">
              <a:lnSpc>
                <a:spcPct val="90000"/>
              </a:lnSpc>
              <a:spcBef>
                <a:spcPts val="500"/>
              </a:spcBef>
              <a:buFont typeface="Arial"/>
              <a:buChar char="•"/>
              <a:defRPr sz="2000" b="0" i="0" kern="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160" indent="-228594" algn="l" defTabSz="914377" rtl="0" eaLnBrk="1" latinLnBrk="0" hangingPunct="1">
              <a:lnSpc>
                <a:spcPct val="90000"/>
              </a:lnSpc>
              <a:spcBef>
                <a:spcPts val="500"/>
              </a:spcBef>
              <a:buFont typeface="Arial"/>
              <a:buChar char="•"/>
              <a:defRPr sz="1800" b="0" i="0" kern="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349" indent="-228594" algn="l" defTabSz="914377" rtl="0" eaLnBrk="1" latinLnBrk="0" hangingPunct="1">
              <a:lnSpc>
                <a:spcPct val="90000"/>
              </a:lnSpc>
              <a:spcBef>
                <a:spcPts val="500"/>
              </a:spcBef>
              <a:buFont typeface="Arial"/>
              <a:buChar char="•"/>
              <a:defRPr sz="1800" b="0" i="0" kern="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537"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30000"/>
              </a:lnSpc>
              <a:buNone/>
            </a:pPr>
            <a:r>
              <a:rPr lang="en-US" sz="2400" dirty="0">
                <a:latin typeface="Arial"/>
                <a:cs typeface="Arial"/>
              </a:rPr>
              <a:t>Our STEM-focused education and research produce the talent, knowledge and solutions to serve industry and benefit society – all to create a more prosperous future. It's the mission Mines was founded on 150 years ago and where we continue to excel today.</a:t>
            </a:r>
            <a:endParaRPr lang="en-US" sz="2400" dirty="0">
              <a:latin typeface="Arial" panose="020B0604020202020204" pitchFamily="34" charset="0"/>
              <a:cs typeface="Arial" panose="020B0604020202020204" pitchFamily="34" charset="0"/>
            </a:endParaRPr>
          </a:p>
          <a:p>
            <a:pPr marL="0" indent="0">
              <a:lnSpc>
                <a:spcPct val="130000"/>
              </a:lnSpc>
              <a:buNone/>
            </a:pPr>
            <a:br>
              <a:rPr lang="en-US" sz="2400" dirty="0">
                <a:latin typeface="Arial"/>
                <a:cs typeface="Arial"/>
              </a:rPr>
            </a:br>
            <a:r>
              <a:rPr lang="en-US" sz="2400" dirty="0">
                <a:latin typeface="Arial"/>
                <a:cs typeface="Arial"/>
              </a:rPr>
              <a:t>We’re a community of innovative leaders and resilient problem-solvers who revel in challenges and work together to engineer solutions on Earth and beyond.</a:t>
            </a:r>
            <a:endParaRPr lang="en-US" sz="2400" dirty="0"/>
          </a:p>
        </p:txBody>
      </p:sp>
      <p:cxnSp>
        <p:nvCxnSpPr>
          <p:cNvPr id="7" name="Straight Connector 6">
            <a:extLst>
              <a:ext uri="{FF2B5EF4-FFF2-40B4-BE49-F238E27FC236}">
                <a16:creationId xmlns:a16="http://schemas.microsoft.com/office/drawing/2014/main" id="{F934C4D4-E638-DC2D-3AD5-4DB4A14BBA36}"/>
              </a:ext>
            </a:extLst>
          </p:cNvPr>
          <p:cNvCxnSpPr>
            <a:cxnSpLocks/>
          </p:cNvCxnSpPr>
          <p:nvPr/>
        </p:nvCxnSpPr>
        <p:spPr>
          <a:xfrm>
            <a:off x="3869473" y="2661007"/>
            <a:ext cx="6752377" cy="0"/>
          </a:xfrm>
          <a:prstGeom prst="line">
            <a:avLst/>
          </a:prstGeom>
          <a:ln w="50800">
            <a:solidFill>
              <a:srgbClr val="21314D"/>
            </a:solidFill>
          </a:ln>
        </p:spPr>
        <p:style>
          <a:lnRef idx="1">
            <a:schemeClr val="accent1"/>
          </a:lnRef>
          <a:fillRef idx="0">
            <a:schemeClr val="accent1"/>
          </a:fillRef>
          <a:effectRef idx="0">
            <a:schemeClr val="accent1"/>
          </a:effectRef>
          <a:fontRef idx="minor">
            <a:schemeClr val="tx1"/>
          </a:fontRef>
        </p:style>
      </p:cxnSp>
      <p:pic>
        <p:nvPicPr>
          <p:cNvPr id="9" name="Picture 3">
            <a:extLst>
              <a:ext uri="{FF2B5EF4-FFF2-40B4-BE49-F238E27FC236}">
                <a16:creationId xmlns:a16="http://schemas.microsoft.com/office/drawing/2014/main" id="{A44FDE28-5037-A310-86CD-452AC81D15E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39853"/>
            <a:ext cx="3434576" cy="6309769"/>
          </a:xfrm>
          <a:prstGeom prst="rect">
            <a:avLst/>
          </a:prstGeom>
        </p:spPr>
      </p:pic>
    </p:spTree>
    <p:extLst>
      <p:ext uri="{BB962C8B-B14F-4D97-AF65-F5344CB8AC3E}">
        <p14:creationId xmlns:p14="http://schemas.microsoft.com/office/powerpoint/2010/main" val="1853948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62B3D-3CAF-5BCD-1A98-DFDE085773FD}"/>
              </a:ext>
            </a:extLst>
          </p:cNvPr>
          <p:cNvSpPr>
            <a:spLocks noGrp="1"/>
          </p:cNvSpPr>
          <p:nvPr>
            <p:ph type="title"/>
          </p:nvPr>
        </p:nvSpPr>
        <p:spPr/>
        <p:txBody>
          <a:bodyPr/>
          <a:lstStyle/>
          <a:p>
            <a:r>
              <a:rPr lang="en-US" dirty="0"/>
              <a:t>Our community</a:t>
            </a:r>
          </a:p>
        </p:txBody>
      </p:sp>
      <p:sp>
        <p:nvSpPr>
          <p:cNvPr id="3" name="Text Placeholder 2">
            <a:extLst>
              <a:ext uri="{FF2B5EF4-FFF2-40B4-BE49-F238E27FC236}">
                <a16:creationId xmlns:a16="http://schemas.microsoft.com/office/drawing/2014/main" id="{8D977C3E-5B7F-6A52-F091-27D172394FB6}"/>
              </a:ext>
            </a:extLst>
          </p:cNvPr>
          <p:cNvSpPr>
            <a:spLocks noGrp="1"/>
          </p:cNvSpPr>
          <p:nvPr>
            <p:ph type="body" idx="1"/>
          </p:nvPr>
        </p:nvSpPr>
        <p:spPr>
          <a:xfrm>
            <a:off x="839790" y="3721837"/>
            <a:ext cx="3152348" cy="823912"/>
          </a:xfrm>
        </p:spPr>
        <p:txBody>
          <a:bodyPr>
            <a:normAutofit fontScale="85000" lnSpcReduction="10000"/>
          </a:bodyPr>
          <a:lstStyle/>
          <a:p>
            <a:r>
              <a:rPr lang="en-US" dirty="0">
                <a:solidFill>
                  <a:srgbClr val="21314D"/>
                </a:solidFill>
              </a:rPr>
              <a:t>Collaborative leaders who revel in a challenge</a:t>
            </a:r>
          </a:p>
        </p:txBody>
      </p:sp>
      <p:sp>
        <p:nvSpPr>
          <p:cNvPr id="5" name="Text Placeholder 4">
            <a:extLst>
              <a:ext uri="{FF2B5EF4-FFF2-40B4-BE49-F238E27FC236}">
                <a16:creationId xmlns:a16="http://schemas.microsoft.com/office/drawing/2014/main" id="{454754CA-5C7B-D8DD-2D31-364192F9D826}"/>
              </a:ext>
            </a:extLst>
          </p:cNvPr>
          <p:cNvSpPr>
            <a:spLocks noGrp="1"/>
          </p:cNvSpPr>
          <p:nvPr>
            <p:ph type="body" sz="quarter" idx="3"/>
          </p:nvPr>
        </p:nvSpPr>
        <p:spPr>
          <a:xfrm>
            <a:off x="4420157" y="3721837"/>
            <a:ext cx="3395545" cy="823912"/>
          </a:xfrm>
        </p:spPr>
        <p:txBody>
          <a:bodyPr>
            <a:normAutofit fontScale="85000" lnSpcReduction="10000"/>
          </a:bodyPr>
          <a:lstStyle/>
          <a:p>
            <a:r>
              <a:rPr lang="en-US" dirty="0">
                <a:solidFill>
                  <a:srgbClr val="21314D"/>
                </a:solidFill>
              </a:rPr>
              <a:t>Innovation that forges new discoveries</a:t>
            </a:r>
          </a:p>
        </p:txBody>
      </p:sp>
      <p:sp>
        <p:nvSpPr>
          <p:cNvPr id="7" name="Text Placeholder 4">
            <a:extLst>
              <a:ext uri="{FF2B5EF4-FFF2-40B4-BE49-F238E27FC236}">
                <a16:creationId xmlns:a16="http://schemas.microsoft.com/office/drawing/2014/main" id="{14261312-5E04-6B18-05B6-2871C787224C}"/>
              </a:ext>
            </a:extLst>
          </p:cNvPr>
          <p:cNvSpPr txBox="1">
            <a:spLocks/>
          </p:cNvSpPr>
          <p:nvPr/>
        </p:nvSpPr>
        <p:spPr>
          <a:xfrm>
            <a:off x="8276350" y="3721837"/>
            <a:ext cx="3395545" cy="823912"/>
          </a:xfrm>
          <a:prstGeom prst="rect">
            <a:avLst/>
          </a:prstGeom>
        </p:spPr>
        <p:txBody>
          <a:bodyPr vert="horz" lIns="91440" tIns="45720" rIns="91440" bIns="45720" rtlCol="0" anchor="b">
            <a:normAutofit/>
          </a:bodyPr>
          <a:lstStyle>
            <a:lvl1pPr marL="0" indent="0" algn="l" defTabSz="914377" rtl="0" eaLnBrk="1" latinLnBrk="0" hangingPunct="1">
              <a:lnSpc>
                <a:spcPct val="100000"/>
              </a:lnSpc>
              <a:spcBef>
                <a:spcPts val="1000"/>
              </a:spcBef>
              <a:buFont typeface="Arial"/>
              <a:buNone/>
              <a:defRPr sz="2400" b="1" i="0" kern="1200">
                <a:solidFill>
                  <a:schemeClr val="tx1"/>
                </a:solidFill>
                <a:latin typeface="Arial" panose="020B0604020202020204" pitchFamily="34" charset="0"/>
                <a:ea typeface="Arial" panose="020B0604020202020204" pitchFamily="34" charset="0"/>
                <a:cs typeface="Arial" panose="020B0604020202020204" pitchFamily="34" charset="0"/>
              </a:defRPr>
            </a:lvl1pPr>
            <a:lvl2pPr marL="457189" indent="0" algn="l" defTabSz="914377" rtl="0" eaLnBrk="1" latinLnBrk="0" hangingPunct="1">
              <a:lnSpc>
                <a:spcPct val="100000"/>
              </a:lnSpc>
              <a:spcBef>
                <a:spcPts val="500"/>
              </a:spcBef>
              <a:buFont typeface="Arial"/>
              <a:buNone/>
              <a:defRPr sz="2000" b="1" i="0" kern="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914377" indent="0" algn="l" defTabSz="914377" rtl="0" eaLnBrk="1" latinLnBrk="0" hangingPunct="1">
              <a:lnSpc>
                <a:spcPct val="100000"/>
              </a:lnSpc>
              <a:spcBef>
                <a:spcPts val="500"/>
              </a:spcBef>
              <a:buFont typeface="Arial"/>
              <a:buNone/>
              <a:defRPr sz="1800" b="1" i="0" kern="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371566" indent="0" algn="l" defTabSz="914377" rtl="0" eaLnBrk="1" latinLnBrk="0" hangingPunct="1">
              <a:lnSpc>
                <a:spcPct val="100000"/>
              </a:lnSpc>
              <a:spcBef>
                <a:spcPts val="500"/>
              </a:spcBef>
              <a:buFont typeface="Arial"/>
              <a:buNone/>
              <a:defRPr sz="1600" b="1" i="0" kern="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1828754" indent="0" algn="l" defTabSz="914377" rtl="0" eaLnBrk="1" latinLnBrk="0" hangingPunct="1">
              <a:lnSpc>
                <a:spcPct val="100000"/>
              </a:lnSpc>
              <a:spcBef>
                <a:spcPts val="500"/>
              </a:spcBef>
              <a:buFont typeface="Arial"/>
              <a:buNone/>
              <a:defRPr sz="1600" b="1" i="0" kern="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285943" indent="0" algn="l" defTabSz="914377" rtl="0" eaLnBrk="1" latinLnBrk="0" hangingPunct="1">
              <a:lnSpc>
                <a:spcPct val="90000"/>
              </a:lnSpc>
              <a:spcBef>
                <a:spcPts val="500"/>
              </a:spcBef>
              <a:buFont typeface="Arial"/>
              <a:buNone/>
              <a:defRPr sz="1600" b="1" kern="1200">
                <a:solidFill>
                  <a:schemeClr val="tx1"/>
                </a:solidFill>
                <a:latin typeface="+mn-lt"/>
                <a:ea typeface="+mn-ea"/>
                <a:cs typeface="+mn-cs"/>
              </a:defRPr>
            </a:lvl6pPr>
            <a:lvl7pPr marL="2743131" indent="0" algn="l" defTabSz="914377" rtl="0" eaLnBrk="1" latinLnBrk="0" hangingPunct="1">
              <a:lnSpc>
                <a:spcPct val="90000"/>
              </a:lnSpc>
              <a:spcBef>
                <a:spcPts val="500"/>
              </a:spcBef>
              <a:buFont typeface="Arial"/>
              <a:buNone/>
              <a:defRPr sz="1600" b="1" kern="1200">
                <a:solidFill>
                  <a:schemeClr val="tx1"/>
                </a:solidFill>
                <a:latin typeface="+mn-lt"/>
                <a:ea typeface="+mn-ea"/>
                <a:cs typeface="+mn-cs"/>
              </a:defRPr>
            </a:lvl7pPr>
            <a:lvl8pPr marL="3200320" indent="0" algn="l" defTabSz="914377" rtl="0" eaLnBrk="1" latinLnBrk="0" hangingPunct="1">
              <a:lnSpc>
                <a:spcPct val="90000"/>
              </a:lnSpc>
              <a:spcBef>
                <a:spcPts val="500"/>
              </a:spcBef>
              <a:buFont typeface="Arial"/>
              <a:buNone/>
              <a:defRPr sz="1600" b="1" kern="1200">
                <a:solidFill>
                  <a:schemeClr val="tx1"/>
                </a:solidFill>
                <a:latin typeface="+mn-lt"/>
                <a:ea typeface="+mn-ea"/>
                <a:cs typeface="+mn-cs"/>
              </a:defRPr>
            </a:lvl8pPr>
            <a:lvl9pPr marL="3657509" indent="0" algn="l" defTabSz="914377" rtl="0" eaLnBrk="1" latinLnBrk="0" hangingPunct="1">
              <a:lnSpc>
                <a:spcPct val="90000"/>
              </a:lnSpc>
              <a:spcBef>
                <a:spcPts val="500"/>
              </a:spcBef>
              <a:buFont typeface="Arial"/>
              <a:buNone/>
              <a:defRPr sz="1600" b="1" kern="1200">
                <a:solidFill>
                  <a:schemeClr val="tx1"/>
                </a:solidFill>
                <a:latin typeface="+mn-lt"/>
                <a:ea typeface="+mn-ea"/>
                <a:cs typeface="+mn-cs"/>
              </a:defRPr>
            </a:lvl9pPr>
          </a:lstStyle>
          <a:p>
            <a:r>
              <a:rPr lang="en-US" sz="2000" dirty="0">
                <a:solidFill>
                  <a:srgbClr val="21314D"/>
                </a:solidFill>
              </a:rPr>
              <a:t>A more sustainable and prosperous future</a:t>
            </a:r>
          </a:p>
        </p:txBody>
      </p:sp>
      <p:pic>
        <p:nvPicPr>
          <p:cNvPr id="11" name="Picture 12" descr="A picture containing person, indoor, microscope, preparing&#10;&#10;Description automatically generated">
            <a:extLst>
              <a:ext uri="{FF2B5EF4-FFF2-40B4-BE49-F238E27FC236}">
                <a16:creationId xmlns:a16="http://schemas.microsoft.com/office/drawing/2014/main" id="{2E87CA4D-01A2-972E-8E40-EB05991D841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573367" y="1694794"/>
            <a:ext cx="2743200" cy="1828800"/>
          </a:xfrm>
          <a:prstGeom prst="rect">
            <a:avLst/>
          </a:prstGeom>
        </p:spPr>
      </p:pic>
      <p:pic>
        <p:nvPicPr>
          <p:cNvPr id="12" name="Picture 13" descr="A picture containing mountain, outdoor, person, sky&#10;&#10;Description automatically generated">
            <a:extLst>
              <a:ext uri="{FF2B5EF4-FFF2-40B4-BE49-F238E27FC236}">
                <a16:creationId xmlns:a16="http://schemas.microsoft.com/office/drawing/2014/main" id="{32772FAE-47E1-BFAC-808C-44280B44FC5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276350" y="1706568"/>
            <a:ext cx="2743200" cy="1830788"/>
          </a:xfrm>
          <a:prstGeom prst="rect">
            <a:avLst/>
          </a:prstGeom>
        </p:spPr>
      </p:pic>
      <p:pic>
        <p:nvPicPr>
          <p:cNvPr id="13" name="Picture 14" descr="A picture containing text, person, indoor, working&#10;&#10;Description automatically generated">
            <a:extLst>
              <a:ext uri="{FF2B5EF4-FFF2-40B4-BE49-F238E27FC236}">
                <a16:creationId xmlns:a16="http://schemas.microsoft.com/office/drawing/2014/main" id="{5A8D8E6D-74A7-F55F-6C73-697E3895A71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36612" y="1690690"/>
            <a:ext cx="2743200" cy="1824914"/>
          </a:xfrm>
          <a:prstGeom prst="rect">
            <a:avLst/>
          </a:prstGeom>
        </p:spPr>
      </p:pic>
      <p:sp>
        <p:nvSpPr>
          <p:cNvPr id="14" name="Content Placeholder 4">
            <a:extLst>
              <a:ext uri="{FF2B5EF4-FFF2-40B4-BE49-F238E27FC236}">
                <a16:creationId xmlns:a16="http://schemas.microsoft.com/office/drawing/2014/main" id="{7C0198EB-3C49-C15C-08C5-F9EC1098F827}"/>
              </a:ext>
            </a:extLst>
          </p:cNvPr>
          <p:cNvSpPr txBox="1">
            <a:spLocks/>
          </p:cNvSpPr>
          <p:nvPr/>
        </p:nvSpPr>
        <p:spPr>
          <a:xfrm>
            <a:off x="4420157" y="4748665"/>
            <a:ext cx="3263675" cy="1408471"/>
          </a:xfrm>
          <a:prstGeom prst="rect">
            <a:avLst/>
          </a:prstGeom>
        </p:spPr>
        <p:txBody>
          <a:bodyPr lIns="91440" tIns="45720" rIns="91440" bIns="4572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solidFill>
                  <a:srgbClr val="183158"/>
                </a:solidFill>
              </a:rPr>
              <a:t>We innovate by breaking down tough challenges and exploring solutions that improve how the world works. </a:t>
            </a:r>
            <a:endParaRPr lang="en-US" dirty="0"/>
          </a:p>
          <a:p>
            <a:endParaRPr lang="en-US" dirty="0"/>
          </a:p>
        </p:txBody>
      </p:sp>
      <p:sp>
        <p:nvSpPr>
          <p:cNvPr id="15" name="Content Placeholder 6">
            <a:extLst>
              <a:ext uri="{FF2B5EF4-FFF2-40B4-BE49-F238E27FC236}">
                <a16:creationId xmlns:a16="http://schemas.microsoft.com/office/drawing/2014/main" id="{C96F1938-A0B1-CB9B-D94B-ADFB772E5F91}"/>
              </a:ext>
            </a:extLst>
          </p:cNvPr>
          <p:cNvSpPr txBox="1">
            <a:spLocks/>
          </p:cNvSpPr>
          <p:nvPr/>
        </p:nvSpPr>
        <p:spPr>
          <a:xfrm>
            <a:off x="8273900" y="4729850"/>
            <a:ext cx="3551433" cy="1408471"/>
          </a:xfrm>
          <a:prstGeom prst="rect">
            <a:avLst/>
          </a:prstGeom>
        </p:spPr>
        <p:txBody>
          <a:bodyPr lIns="91440" tIns="45720" rIns="91440" bIns="4572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solidFill>
                  <a:srgbClr val="183158"/>
                </a:solidFill>
              </a:rPr>
              <a:t>It's our shared responsibility to solve critical challenges so we can ensure a sustainable, prosperous future.</a:t>
            </a:r>
          </a:p>
          <a:p>
            <a:endParaRPr lang="en-US" dirty="0">
              <a:solidFill>
                <a:srgbClr val="183158"/>
              </a:solidFill>
            </a:endParaRPr>
          </a:p>
        </p:txBody>
      </p:sp>
      <p:sp>
        <p:nvSpPr>
          <p:cNvPr id="16" name="Content Placeholder 4">
            <a:extLst>
              <a:ext uri="{FF2B5EF4-FFF2-40B4-BE49-F238E27FC236}">
                <a16:creationId xmlns:a16="http://schemas.microsoft.com/office/drawing/2014/main" id="{D0D52DF1-4CAB-B0AD-F34D-3B9492356440}"/>
              </a:ext>
            </a:extLst>
          </p:cNvPr>
          <p:cNvSpPr txBox="1">
            <a:spLocks/>
          </p:cNvSpPr>
          <p:nvPr/>
        </p:nvSpPr>
        <p:spPr>
          <a:xfrm>
            <a:off x="836612" y="4730230"/>
            <a:ext cx="3095632" cy="1408471"/>
          </a:xfrm>
          <a:prstGeom prst="rect">
            <a:avLst/>
          </a:prstGeom>
        </p:spPr>
        <p:txBody>
          <a:bodyPr lIns="91440" tIns="45720" rIns="91440" bIns="4572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solidFill>
                  <a:srgbClr val="183158"/>
                </a:solidFill>
              </a:rPr>
              <a:t>We're a community of entrepreneurial thinkers who revel in the process of solving problems together.</a:t>
            </a:r>
          </a:p>
        </p:txBody>
      </p:sp>
    </p:spTree>
    <p:extLst>
      <p:ext uri="{BB962C8B-B14F-4D97-AF65-F5344CB8AC3E}">
        <p14:creationId xmlns:p14="http://schemas.microsoft.com/office/powerpoint/2010/main" val="19558365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A7A43-B337-11C3-7F78-418D944B6346}"/>
              </a:ext>
            </a:extLst>
          </p:cNvPr>
          <p:cNvSpPr>
            <a:spLocks noGrp="1"/>
          </p:cNvSpPr>
          <p:nvPr>
            <p:ph type="title"/>
          </p:nvPr>
        </p:nvSpPr>
        <p:spPr/>
        <p:txBody>
          <a:bodyPr/>
          <a:lstStyle/>
          <a:p>
            <a:r>
              <a:rPr lang="en-US" dirty="0"/>
              <a:t>By the numbers</a:t>
            </a:r>
          </a:p>
        </p:txBody>
      </p:sp>
      <p:sp>
        <p:nvSpPr>
          <p:cNvPr id="3" name="Content Placeholder 2">
            <a:extLst>
              <a:ext uri="{FF2B5EF4-FFF2-40B4-BE49-F238E27FC236}">
                <a16:creationId xmlns:a16="http://schemas.microsoft.com/office/drawing/2014/main" id="{E642F109-D21C-0099-F83D-2B10E84E8A9D}"/>
              </a:ext>
            </a:extLst>
          </p:cNvPr>
          <p:cNvSpPr>
            <a:spLocks noGrp="1"/>
          </p:cNvSpPr>
          <p:nvPr>
            <p:ph sz="half" idx="1"/>
          </p:nvPr>
        </p:nvSpPr>
        <p:spPr>
          <a:xfrm>
            <a:off x="838200" y="3869474"/>
            <a:ext cx="2852854" cy="775010"/>
          </a:xfrm>
        </p:spPr>
        <p:txBody>
          <a:bodyPr>
            <a:normAutofit/>
          </a:bodyPr>
          <a:lstStyle/>
          <a:p>
            <a:pPr marL="0" indent="0" algn="ctr">
              <a:buNone/>
            </a:pPr>
            <a:r>
              <a:rPr lang="en-US" sz="1800" dirty="0"/>
              <a:t>Academic degrees and programs to choose from</a:t>
            </a:r>
          </a:p>
        </p:txBody>
      </p:sp>
      <p:sp>
        <p:nvSpPr>
          <p:cNvPr id="5" name="Title 1">
            <a:extLst>
              <a:ext uri="{FF2B5EF4-FFF2-40B4-BE49-F238E27FC236}">
                <a16:creationId xmlns:a16="http://schemas.microsoft.com/office/drawing/2014/main" id="{6CCA0823-CABE-94A9-6D69-399092D0AB1F}"/>
              </a:ext>
            </a:extLst>
          </p:cNvPr>
          <p:cNvSpPr txBox="1">
            <a:spLocks/>
          </p:cNvSpPr>
          <p:nvPr/>
        </p:nvSpPr>
        <p:spPr>
          <a:xfrm>
            <a:off x="838200" y="2584221"/>
            <a:ext cx="2852854" cy="1325563"/>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4400" b="1" i="0" kern="1200">
                <a:solidFill>
                  <a:srgbClr val="21314D"/>
                </a:solidFill>
                <a:latin typeface="Arial" panose="020B0604020202020204" pitchFamily="34" charset="0"/>
                <a:ea typeface="Arial" panose="020B0604020202020204" pitchFamily="34" charset="0"/>
                <a:cs typeface="Arial" panose="020B0604020202020204" pitchFamily="34" charset="0"/>
              </a:defRPr>
            </a:lvl1pPr>
          </a:lstStyle>
          <a:p>
            <a:pPr algn="ctr"/>
            <a:r>
              <a:rPr lang="en-US" sz="8800" dirty="0"/>
              <a:t>75+</a:t>
            </a:r>
          </a:p>
        </p:txBody>
      </p:sp>
      <p:sp>
        <p:nvSpPr>
          <p:cNvPr id="6" name="Content Placeholder 2">
            <a:extLst>
              <a:ext uri="{FF2B5EF4-FFF2-40B4-BE49-F238E27FC236}">
                <a16:creationId xmlns:a16="http://schemas.microsoft.com/office/drawing/2014/main" id="{3F75303E-6B96-2DBC-0B19-16FB7A6BCAE0}"/>
              </a:ext>
            </a:extLst>
          </p:cNvPr>
          <p:cNvSpPr txBox="1">
            <a:spLocks/>
          </p:cNvSpPr>
          <p:nvPr/>
        </p:nvSpPr>
        <p:spPr>
          <a:xfrm>
            <a:off x="4493904" y="3869473"/>
            <a:ext cx="3657600" cy="1951463"/>
          </a:xfrm>
          <a:prstGeom prst="rect">
            <a:avLst/>
          </a:prstGeom>
        </p:spPr>
        <p:txBody>
          <a:bodyPr vert="horz" lIns="91440" tIns="45720" rIns="91440" bIns="45720" rtlCol="0">
            <a:normAutofit/>
          </a:bodyPr>
          <a:lstStyle>
            <a:lvl1pPr marL="228594" indent="-228594" algn="l" defTabSz="914377" rtl="0" eaLnBrk="1" latinLnBrk="0" hangingPunct="1">
              <a:lnSpc>
                <a:spcPct val="100000"/>
              </a:lnSpc>
              <a:spcBef>
                <a:spcPts val="1000"/>
              </a:spcBef>
              <a:buFont typeface="Arial"/>
              <a:buChar char="•"/>
              <a:defRPr sz="2800" b="0" i="0" kern="1200">
                <a:solidFill>
                  <a:schemeClr val="tx1"/>
                </a:solidFill>
                <a:latin typeface="Arial" panose="020B0604020202020204" pitchFamily="34" charset="0"/>
                <a:ea typeface="Arial" panose="020B0604020202020204" pitchFamily="34" charset="0"/>
                <a:cs typeface="Arial" panose="020B0604020202020204" pitchFamily="34" charset="0"/>
              </a:defRPr>
            </a:lvl1pPr>
            <a:lvl2pPr marL="685783" indent="-228594" algn="l" defTabSz="914377" rtl="0" eaLnBrk="1" latinLnBrk="0" hangingPunct="1">
              <a:lnSpc>
                <a:spcPct val="100000"/>
              </a:lnSpc>
              <a:spcBef>
                <a:spcPts val="500"/>
              </a:spcBef>
              <a:buFont typeface="Arial"/>
              <a:buChar char="•"/>
              <a:defRPr sz="2400" b="0" i="0" kern="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2971" indent="-228594" algn="l" defTabSz="914377" rtl="0" eaLnBrk="1" latinLnBrk="0" hangingPunct="1">
              <a:lnSpc>
                <a:spcPct val="100000"/>
              </a:lnSpc>
              <a:spcBef>
                <a:spcPts val="500"/>
              </a:spcBef>
              <a:buFont typeface="Arial"/>
              <a:buChar char="•"/>
              <a:defRPr sz="2000" b="0" i="0" kern="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160" indent="-228594" algn="l" defTabSz="914377" rtl="0" eaLnBrk="1" latinLnBrk="0" hangingPunct="1">
              <a:lnSpc>
                <a:spcPct val="100000"/>
              </a:lnSpc>
              <a:spcBef>
                <a:spcPts val="500"/>
              </a:spcBef>
              <a:buFont typeface="Arial"/>
              <a:buChar char="•"/>
              <a:defRPr sz="1800" b="0" i="0" kern="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349" indent="-228594" algn="l" defTabSz="914377" rtl="0" eaLnBrk="1" latinLnBrk="0" hangingPunct="1">
              <a:lnSpc>
                <a:spcPct val="100000"/>
              </a:lnSpc>
              <a:spcBef>
                <a:spcPts val="500"/>
              </a:spcBef>
              <a:buFont typeface="Arial"/>
              <a:buChar char="•"/>
              <a:defRPr sz="1800" b="0" i="0" kern="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537"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Font typeface="Arial"/>
              <a:buNone/>
            </a:pPr>
            <a:r>
              <a:rPr lang="en-US" sz="1800" dirty="0"/>
              <a:t>Public university, as ranked by U.S. News &amp; World Report</a:t>
            </a:r>
          </a:p>
        </p:txBody>
      </p:sp>
      <p:sp>
        <p:nvSpPr>
          <p:cNvPr id="7" name="Title 1">
            <a:extLst>
              <a:ext uri="{FF2B5EF4-FFF2-40B4-BE49-F238E27FC236}">
                <a16:creationId xmlns:a16="http://schemas.microsoft.com/office/drawing/2014/main" id="{AF338502-F464-18E6-5214-E6549DC3AB43}"/>
              </a:ext>
            </a:extLst>
          </p:cNvPr>
          <p:cNvSpPr txBox="1">
            <a:spLocks/>
          </p:cNvSpPr>
          <p:nvPr/>
        </p:nvSpPr>
        <p:spPr>
          <a:xfrm>
            <a:off x="4896277" y="2584221"/>
            <a:ext cx="2852854" cy="1325563"/>
          </a:xfrm>
          <a:prstGeom prst="rect">
            <a:avLst/>
          </a:prstGeom>
        </p:spPr>
        <p:txBody>
          <a:bodyPr vert="horz" lIns="91440" tIns="45720" rIns="91440" bIns="45720" rtlCol="0" anchor="ctr">
            <a:normAutofit fontScale="70000" lnSpcReduction="20000"/>
          </a:bodyPr>
          <a:lstStyle>
            <a:lvl1pPr algn="l" defTabSz="914377" rtl="0" eaLnBrk="1" latinLnBrk="0" hangingPunct="1">
              <a:lnSpc>
                <a:spcPct val="90000"/>
              </a:lnSpc>
              <a:spcBef>
                <a:spcPct val="0"/>
              </a:spcBef>
              <a:buNone/>
              <a:defRPr sz="4400" b="1" i="0" kern="1200">
                <a:solidFill>
                  <a:srgbClr val="21314D"/>
                </a:solidFill>
                <a:latin typeface="Arial" panose="020B0604020202020204" pitchFamily="34" charset="0"/>
                <a:ea typeface="Arial" panose="020B0604020202020204" pitchFamily="34" charset="0"/>
                <a:cs typeface="Arial" panose="020B0604020202020204" pitchFamily="34" charset="0"/>
              </a:defRPr>
            </a:lvl1pPr>
          </a:lstStyle>
          <a:p>
            <a:pPr algn="ctr"/>
            <a:r>
              <a:rPr lang="en-US" sz="8800" dirty="0">
                <a:solidFill>
                  <a:srgbClr val="CC4628"/>
                </a:solidFill>
              </a:rPr>
              <a:t>Top 40</a:t>
            </a:r>
          </a:p>
        </p:txBody>
      </p:sp>
      <p:sp>
        <p:nvSpPr>
          <p:cNvPr id="8" name="Content Placeholder 2">
            <a:extLst>
              <a:ext uri="{FF2B5EF4-FFF2-40B4-BE49-F238E27FC236}">
                <a16:creationId xmlns:a16="http://schemas.microsoft.com/office/drawing/2014/main" id="{81B72E95-3123-2D53-BAA4-0C111963E3B4}"/>
              </a:ext>
            </a:extLst>
          </p:cNvPr>
          <p:cNvSpPr txBox="1">
            <a:spLocks/>
          </p:cNvSpPr>
          <p:nvPr/>
        </p:nvSpPr>
        <p:spPr>
          <a:xfrm>
            <a:off x="8789019" y="3869474"/>
            <a:ext cx="2852854" cy="775010"/>
          </a:xfrm>
          <a:prstGeom prst="rect">
            <a:avLst/>
          </a:prstGeom>
        </p:spPr>
        <p:txBody>
          <a:bodyPr vert="horz" lIns="91440" tIns="45720" rIns="91440" bIns="45720" rtlCol="0">
            <a:normAutofit fontScale="85000" lnSpcReduction="10000"/>
          </a:bodyPr>
          <a:lstStyle>
            <a:lvl1pPr marL="228594" indent="-228594" algn="l" defTabSz="914377" rtl="0" eaLnBrk="1" latinLnBrk="0" hangingPunct="1">
              <a:lnSpc>
                <a:spcPct val="100000"/>
              </a:lnSpc>
              <a:spcBef>
                <a:spcPts val="1000"/>
              </a:spcBef>
              <a:buFont typeface="Arial"/>
              <a:buChar char="•"/>
              <a:defRPr sz="2800" b="0" i="0" kern="1200">
                <a:solidFill>
                  <a:schemeClr val="tx1"/>
                </a:solidFill>
                <a:latin typeface="Arial" panose="020B0604020202020204" pitchFamily="34" charset="0"/>
                <a:ea typeface="Arial" panose="020B0604020202020204" pitchFamily="34" charset="0"/>
                <a:cs typeface="Arial" panose="020B0604020202020204" pitchFamily="34" charset="0"/>
              </a:defRPr>
            </a:lvl1pPr>
            <a:lvl2pPr marL="685783" indent="-228594" algn="l" defTabSz="914377" rtl="0" eaLnBrk="1" latinLnBrk="0" hangingPunct="1">
              <a:lnSpc>
                <a:spcPct val="100000"/>
              </a:lnSpc>
              <a:spcBef>
                <a:spcPts val="500"/>
              </a:spcBef>
              <a:buFont typeface="Arial"/>
              <a:buChar char="•"/>
              <a:defRPr sz="2400" b="0" i="0" kern="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2971" indent="-228594" algn="l" defTabSz="914377" rtl="0" eaLnBrk="1" latinLnBrk="0" hangingPunct="1">
              <a:lnSpc>
                <a:spcPct val="100000"/>
              </a:lnSpc>
              <a:spcBef>
                <a:spcPts val="500"/>
              </a:spcBef>
              <a:buFont typeface="Arial"/>
              <a:buChar char="•"/>
              <a:defRPr sz="2000" b="0" i="0" kern="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160" indent="-228594" algn="l" defTabSz="914377" rtl="0" eaLnBrk="1" latinLnBrk="0" hangingPunct="1">
              <a:lnSpc>
                <a:spcPct val="100000"/>
              </a:lnSpc>
              <a:spcBef>
                <a:spcPts val="500"/>
              </a:spcBef>
              <a:buFont typeface="Arial"/>
              <a:buChar char="•"/>
              <a:defRPr sz="1800" b="0" i="0" kern="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349" indent="-228594" algn="l" defTabSz="914377" rtl="0" eaLnBrk="1" latinLnBrk="0" hangingPunct="1">
              <a:lnSpc>
                <a:spcPct val="100000"/>
              </a:lnSpc>
              <a:spcBef>
                <a:spcPts val="500"/>
              </a:spcBef>
              <a:buFont typeface="Arial"/>
              <a:buChar char="•"/>
              <a:defRPr sz="1800" b="0" i="0" kern="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537"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Font typeface="Arial"/>
              <a:buNone/>
            </a:pPr>
            <a:r>
              <a:rPr lang="en-US" sz="1800" dirty="0"/>
              <a:t>Total enrollment of undergraduate and graduate students, as of fall 2024</a:t>
            </a:r>
          </a:p>
        </p:txBody>
      </p:sp>
      <p:sp>
        <p:nvSpPr>
          <p:cNvPr id="9" name="Title 1">
            <a:extLst>
              <a:ext uri="{FF2B5EF4-FFF2-40B4-BE49-F238E27FC236}">
                <a16:creationId xmlns:a16="http://schemas.microsoft.com/office/drawing/2014/main" id="{98B9D2C9-89FC-872D-D3C3-716AD74BC7C0}"/>
              </a:ext>
            </a:extLst>
          </p:cNvPr>
          <p:cNvSpPr txBox="1">
            <a:spLocks/>
          </p:cNvSpPr>
          <p:nvPr/>
        </p:nvSpPr>
        <p:spPr>
          <a:xfrm>
            <a:off x="8789019" y="2584221"/>
            <a:ext cx="2852854" cy="1325563"/>
          </a:xfrm>
          <a:prstGeom prst="rect">
            <a:avLst/>
          </a:prstGeom>
        </p:spPr>
        <p:txBody>
          <a:bodyPr vert="horz" lIns="91440" tIns="45720" rIns="91440" bIns="45720" rtlCol="0" anchor="ctr">
            <a:normAutofit fontScale="92500"/>
          </a:bodyPr>
          <a:lstStyle>
            <a:lvl1pPr algn="l" defTabSz="914377" rtl="0" eaLnBrk="1" latinLnBrk="0" hangingPunct="1">
              <a:lnSpc>
                <a:spcPct val="90000"/>
              </a:lnSpc>
              <a:spcBef>
                <a:spcPct val="0"/>
              </a:spcBef>
              <a:buNone/>
              <a:defRPr sz="4400" b="1" i="0" kern="1200">
                <a:solidFill>
                  <a:srgbClr val="21314D"/>
                </a:solidFill>
                <a:latin typeface="Arial" panose="020B0604020202020204" pitchFamily="34" charset="0"/>
                <a:ea typeface="Arial" panose="020B0604020202020204" pitchFamily="34" charset="0"/>
                <a:cs typeface="Arial" panose="020B0604020202020204" pitchFamily="34" charset="0"/>
              </a:defRPr>
            </a:lvl1pPr>
          </a:lstStyle>
          <a:p>
            <a:pPr algn="ctr"/>
            <a:r>
              <a:rPr lang="en-US" sz="8800" dirty="0"/>
              <a:t>8,058</a:t>
            </a:r>
          </a:p>
        </p:txBody>
      </p:sp>
      <p:cxnSp>
        <p:nvCxnSpPr>
          <p:cNvPr id="10" name="Google Shape;125;p8">
            <a:extLst>
              <a:ext uri="{FF2B5EF4-FFF2-40B4-BE49-F238E27FC236}">
                <a16:creationId xmlns:a16="http://schemas.microsoft.com/office/drawing/2014/main" id="{9FE79314-6D2A-B59B-D02A-79F3C7DA9758}"/>
              </a:ext>
            </a:extLst>
          </p:cNvPr>
          <p:cNvCxnSpPr/>
          <p:nvPr/>
        </p:nvCxnSpPr>
        <p:spPr>
          <a:xfrm rot="10800000">
            <a:off x="4079762" y="1912328"/>
            <a:ext cx="0" cy="3719146"/>
          </a:xfrm>
          <a:prstGeom prst="straightConnector1">
            <a:avLst/>
          </a:prstGeom>
          <a:noFill/>
          <a:ln w="12700" cap="flat" cmpd="sng">
            <a:solidFill>
              <a:srgbClr val="889FC7"/>
            </a:solidFill>
            <a:prstDash val="solid"/>
            <a:miter lim="800000"/>
            <a:headEnd type="none" w="sm" len="sm"/>
            <a:tailEnd type="none" w="sm" len="sm"/>
          </a:ln>
        </p:spPr>
      </p:cxnSp>
      <p:cxnSp>
        <p:nvCxnSpPr>
          <p:cNvPr id="11" name="Google Shape;128;p8">
            <a:extLst>
              <a:ext uri="{FF2B5EF4-FFF2-40B4-BE49-F238E27FC236}">
                <a16:creationId xmlns:a16="http://schemas.microsoft.com/office/drawing/2014/main" id="{947DC71D-DBF7-EE26-0A88-9E4ADE591AE2}"/>
              </a:ext>
            </a:extLst>
          </p:cNvPr>
          <p:cNvCxnSpPr/>
          <p:nvPr/>
        </p:nvCxnSpPr>
        <p:spPr>
          <a:xfrm rot="10800000">
            <a:off x="8490571" y="1912328"/>
            <a:ext cx="0" cy="3719146"/>
          </a:xfrm>
          <a:prstGeom prst="straightConnector1">
            <a:avLst/>
          </a:prstGeom>
          <a:noFill/>
          <a:ln w="12700" cap="flat" cmpd="sng">
            <a:solidFill>
              <a:srgbClr val="889FC7"/>
            </a:solidFill>
            <a:prstDash val="solid"/>
            <a:miter lim="800000"/>
            <a:headEnd type="none" w="sm" len="sm"/>
            <a:tailEnd type="none" w="sm" len="sm"/>
          </a:ln>
        </p:spPr>
      </p:cxnSp>
    </p:spTree>
    <p:extLst>
      <p:ext uri="{BB962C8B-B14F-4D97-AF65-F5344CB8AC3E}">
        <p14:creationId xmlns:p14="http://schemas.microsoft.com/office/powerpoint/2010/main" val="4086613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03BE6-B391-C5A9-1648-AD606F648C2D}"/>
              </a:ext>
            </a:extLst>
          </p:cNvPr>
          <p:cNvSpPr>
            <a:spLocks noGrp="1"/>
          </p:cNvSpPr>
          <p:nvPr>
            <p:ph type="title"/>
          </p:nvPr>
        </p:nvSpPr>
        <p:spPr>
          <a:xfrm>
            <a:off x="450058" y="204652"/>
            <a:ext cx="3932237" cy="1600200"/>
          </a:xfrm>
        </p:spPr>
        <p:txBody>
          <a:bodyPr>
            <a:normAutofit fontScale="90000"/>
          </a:bodyPr>
          <a:lstStyle/>
          <a:p>
            <a:r>
              <a:rPr lang="en-US" dirty="0"/>
              <a:t>Our hometown is Golden</a:t>
            </a:r>
          </a:p>
        </p:txBody>
      </p:sp>
      <p:pic>
        <p:nvPicPr>
          <p:cNvPr id="6" name="Picture Placeholder 5" descr="A picture containing sky, cloud, nature, outdoor&#10;&#10;Description automatically generated">
            <a:extLst>
              <a:ext uri="{FF2B5EF4-FFF2-40B4-BE49-F238E27FC236}">
                <a16:creationId xmlns:a16="http://schemas.microsoft.com/office/drawing/2014/main" id="{3C3CEB90-0892-82D2-A61A-FD23E1F2738E}"/>
              </a:ext>
            </a:extLst>
          </p:cNvPr>
          <p:cNvPicPr>
            <a:picLocks noGrp="1" noChangeAspect="1"/>
          </p:cNvPicPr>
          <p:nvPr>
            <p:ph type="pic" idx="1"/>
          </p:nvPr>
        </p:nvPicPr>
        <p:blipFill>
          <a:blip r:embed="rId3" cstate="screen">
            <a:extLst>
              <a:ext uri="{28A0092B-C50C-407E-A947-70E740481C1C}">
                <a14:useLocalDpi xmlns:a14="http://schemas.microsoft.com/office/drawing/2010/main"/>
              </a:ext>
            </a:extLst>
          </a:blip>
          <a:srcRect/>
          <a:stretch>
            <a:fillRect/>
          </a:stretch>
        </p:blipFill>
        <p:spPr/>
      </p:pic>
      <p:sp>
        <p:nvSpPr>
          <p:cNvPr id="4" name="Text Placeholder 3">
            <a:extLst>
              <a:ext uri="{FF2B5EF4-FFF2-40B4-BE49-F238E27FC236}">
                <a16:creationId xmlns:a16="http://schemas.microsoft.com/office/drawing/2014/main" id="{E0D32E68-B4E1-FFFB-A443-CBC40FD681E0}"/>
              </a:ext>
            </a:extLst>
          </p:cNvPr>
          <p:cNvSpPr>
            <a:spLocks noGrp="1"/>
          </p:cNvSpPr>
          <p:nvPr>
            <p:ph type="body" sz="half" idx="2"/>
          </p:nvPr>
        </p:nvSpPr>
        <p:spPr>
          <a:xfrm>
            <a:off x="450058" y="2072480"/>
            <a:ext cx="4333815" cy="4071841"/>
          </a:xfrm>
        </p:spPr>
        <p:txBody>
          <a:bodyPr>
            <a:normAutofit fontScale="47500" lnSpcReduction="20000"/>
          </a:bodyPr>
          <a:lstStyle/>
          <a:p>
            <a:pPr marL="0" indent="0">
              <a:lnSpc>
                <a:spcPct val="120000"/>
              </a:lnSpc>
              <a:buNone/>
            </a:pPr>
            <a:r>
              <a:rPr lang="en-US" sz="2900" dirty="0"/>
              <a:t>Colorado School of Mines sits in the heart of Golden, a historic small-town community bustling with festivals, restaurants, breweries, recreation outfitters, boutiques, art, hiking and biking trails and so much more. </a:t>
            </a:r>
          </a:p>
          <a:p>
            <a:pPr marL="0" indent="0">
              <a:lnSpc>
                <a:spcPct val="120000"/>
              </a:lnSpc>
              <a:buNone/>
            </a:pPr>
            <a:r>
              <a:rPr lang="en-US" sz="2900" dirty="0"/>
              <a:t>Nestled in the foothills of the Rocky Mountains, Golden is surrounded by mountains and mesas – a perfect launching point for an outdoor adventure, as well as everything downtown Denver has to offer. </a:t>
            </a:r>
          </a:p>
          <a:p>
            <a:pPr marL="0" indent="0">
              <a:lnSpc>
                <a:spcPct val="120000"/>
              </a:lnSpc>
              <a:buNone/>
            </a:pPr>
            <a:endParaRPr lang="en-US" dirty="0"/>
          </a:p>
          <a:p>
            <a:pPr marL="547053" indent="-222250">
              <a:lnSpc>
                <a:spcPct val="120000"/>
              </a:lnSpc>
            </a:pPr>
            <a:r>
              <a:rPr lang="en-US" sz="2900" dirty="0"/>
              <a:t>20 minutes from downtown </a:t>
            </a:r>
            <a:r>
              <a:rPr lang="en-US" sz="2900" b="1" dirty="0"/>
              <a:t>Denver</a:t>
            </a:r>
          </a:p>
          <a:p>
            <a:pPr marL="547053" indent="-222250">
              <a:lnSpc>
                <a:spcPct val="120000"/>
              </a:lnSpc>
            </a:pPr>
            <a:r>
              <a:rPr lang="en-US" sz="2900" dirty="0"/>
              <a:t>1 hour to nearest big </a:t>
            </a:r>
            <a:r>
              <a:rPr lang="en-US" sz="2900" b="1" dirty="0"/>
              <a:t>ski </a:t>
            </a:r>
            <a:r>
              <a:rPr lang="en-US" sz="2900" dirty="0"/>
              <a:t>area</a:t>
            </a:r>
          </a:p>
          <a:p>
            <a:pPr marL="547053" indent="-222250">
              <a:lnSpc>
                <a:spcPct val="120000"/>
              </a:lnSpc>
            </a:pPr>
            <a:r>
              <a:rPr lang="en-US" sz="2900" dirty="0"/>
              <a:t>24 miles of interconnected </a:t>
            </a:r>
            <a:r>
              <a:rPr lang="en-US" sz="2900" b="1" dirty="0"/>
              <a:t>trails</a:t>
            </a:r>
          </a:p>
          <a:p>
            <a:pPr marL="547053" indent="-222250">
              <a:lnSpc>
                <a:spcPct val="120000"/>
              </a:lnSpc>
            </a:pPr>
            <a:r>
              <a:rPr lang="en-US" sz="2900" dirty="0"/>
              <a:t>300+ days of </a:t>
            </a:r>
            <a:r>
              <a:rPr lang="en-US" sz="2900" b="1" dirty="0"/>
              <a:t>sunshine</a:t>
            </a:r>
          </a:p>
        </p:txBody>
      </p:sp>
    </p:spTree>
    <p:extLst>
      <p:ext uri="{BB962C8B-B14F-4D97-AF65-F5344CB8AC3E}">
        <p14:creationId xmlns:p14="http://schemas.microsoft.com/office/powerpoint/2010/main" val="3400350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03BE6-B391-C5A9-1648-AD606F648C2D}"/>
              </a:ext>
            </a:extLst>
          </p:cNvPr>
          <p:cNvSpPr>
            <a:spLocks noGrp="1"/>
          </p:cNvSpPr>
          <p:nvPr>
            <p:ph type="title"/>
          </p:nvPr>
        </p:nvSpPr>
        <p:spPr>
          <a:xfrm>
            <a:off x="450058" y="472280"/>
            <a:ext cx="3932237" cy="1600200"/>
          </a:xfrm>
        </p:spPr>
        <p:txBody>
          <a:bodyPr>
            <a:normAutofit fontScale="90000"/>
          </a:bodyPr>
          <a:lstStyle/>
          <a:p>
            <a:r>
              <a:rPr lang="en-US" dirty="0"/>
              <a:t>Solving the most critical challenges</a:t>
            </a:r>
          </a:p>
        </p:txBody>
      </p:sp>
      <p:pic>
        <p:nvPicPr>
          <p:cNvPr id="6" name="Picture Placeholder 5">
            <a:extLst>
              <a:ext uri="{FF2B5EF4-FFF2-40B4-BE49-F238E27FC236}">
                <a16:creationId xmlns:a16="http://schemas.microsoft.com/office/drawing/2014/main" id="{3C3CEB90-0892-82D2-A61A-FD23E1F2738E}"/>
              </a:ext>
            </a:extLst>
          </p:cNvPr>
          <p:cNvPicPr>
            <a:picLocks noGrp="1" noChangeAspect="1"/>
          </p:cNvPicPr>
          <p:nvPr>
            <p:ph type="pic" idx="1"/>
          </p:nvPr>
        </p:nvPicPr>
        <p:blipFill>
          <a:blip r:embed="rId2" cstate="screen">
            <a:extLst>
              <a:ext uri="{28A0092B-C50C-407E-A947-70E740481C1C}">
                <a14:useLocalDpi xmlns:a14="http://schemas.microsoft.com/office/drawing/2010/main"/>
              </a:ext>
            </a:extLst>
          </a:blip>
          <a:srcRect/>
          <a:stretch/>
        </p:blipFill>
        <p:spPr/>
      </p:pic>
      <p:sp>
        <p:nvSpPr>
          <p:cNvPr id="4" name="Text Placeholder 3">
            <a:extLst>
              <a:ext uri="{FF2B5EF4-FFF2-40B4-BE49-F238E27FC236}">
                <a16:creationId xmlns:a16="http://schemas.microsoft.com/office/drawing/2014/main" id="{E0D32E68-B4E1-FFFB-A443-CBC40FD681E0}"/>
              </a:ext>
            </a:extLst>
          </p:cNvPr>
          <p:cNvSpPr>
            <a:spLocks noGrp="1"/>
          </p:cNvSpPr>
          <p:nvPr>
            <p:ph type="body" sz="half" idx="2"/>
          </p:nvPr>
        </p:nvSpPr>
        <p:spPr>
          <a:xfrm>
            <a:off x="450058" y="2217446"/>
            <a:ext cx="4188849" cy="4071841"/>
          </a:xfrm>
        </p:spPr>
        <p:txBody>
          <a:bodyPr>
            <a:normAutofit/>
          </a:bodyPr>
          <a:lstStyle/>
          <a:p>
            <a:pPr marL="0" indent="0">
              <a:lnSpc>
                <a:spcPct val="110000"/>
              </a:lnSpc>
              <a:buNone/>
            </a:pPr>
            <a:r>
              <a:rPr lang="en-US" sz="1400" dirty="0"/>
              <a:t>Mines is a global leader in research inspired by the changing needs of society. We tackle tomorrow’s biggest challenges and capitalize on opportunities to translate science and engineering into technology that improves our lives. </a:t>
            </a:r>
          </a:p>
          <a:p>
            <a:pPr marL="0" indent="0">
              <a:lnSpc>
                <a:spcPct val="110000"/>
              </a:lnSpc>
              <a:buNone/>
            </a:pPr>
            <a:endParaRPr lang="en-US" sz="1400" dirty="0"/>
          </a:p>
          <a:p>
            <a:pPr marL="455613" indent="-222250">
              <a:lnSpc>
                <a:spcPct val="120000"/>
              </a:lnSpc>
              <a:tabLst>
                <a:tab pos="2160588" algn="l"/>
              </a:tabLst>
            </a:pPr>
            <a:r>
              <a:rPr lang="en-US" sz="1400" dirty="0"/>
              <a:t>Recognized as an </a:t>
            </a:r>
            <a:r>
              <a:rPr lang="en-US" sz="1400" b="1" dirty="0"/>
              <a:t>R1</a:t>
            </a:r>
            <a:r>
              <a:rPr lang="en-US" sz="1400" dirty="0"/>
              <a:t> “very high research activity” institution</a:t>
            </a:r>
          </a:p>
          <a:p>
            <a:pPr marL="455613" indent="-222250">
              <a:lnSpc>
                <a:spcPct val="120000"/>
              </a:lnSpc>
              <a:tabLst>
                <a:tab pos="2160588" algn="l"/>
              </a:tabLst>
            </a:pPr>
            <a:r>
              <a:rPr lang="en-US" sz="1400" dirty="0"/>
              <a:t>$95 in total research </a:t>
            </a:r>
            <a:r>
              <a:rPr lang="en-US" sz="1400" b="1" dirty="0"/>
              <a:t>awards</a:t>
            </a:r>
            <a:r>
              <a:rPr lang="en-US" sz="1400" dirty="0"/>
              <a:t> for FY22</a:t>
            </a:r>
          </a:p>
          <a:p>
            <a:pPr marL="455613" indent="-222250">
              <a:lnSpc>
                <a:spcPct val="120000"/>
              </a:lnSpc>
              <a:tabLst>
                <a:tab pos="2160588" algn="l"/>
              </a:tabLst>
            </a:pPr>
            <a:r>
              <a:rPr lang="en-US" sz="1400" dirty="0"/>
              <a:t>32 active research </a:t>
            </a:r>
            <a:r>
              <a:rPr lang="en-US" sz="1400" b="1" dirty="0"/>
              <a:t>centers</a:t>
            </a:r>
            <a:r>
              <a:rPr lang="en-US" sz="1400" dirty="0"/>
              <a:t> and industry consortia on campus</a:t>
            </a:r>
          </a:p>
        </p:txBody>
      </p:sp>
    </p:spTree>
    <p:extLst>
      <p:ext uri="{BB962C8B-B14F-4D97-AF65-F5344CB8AC3E}">
        <p14:creationId xmlns:p14="http://schemas.microsoft.com/office/powerpoint/2010/main" val="3823762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F965C-959F-A396-5B3B-1E6FC37C73D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D2F8AEB-6900-91D5-C07E-D155436F34A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8059454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Text Placeholder 3"/>
          <p:cNvSpPr>
            <a:spLocks noGrp="1"/>
          </p:cNvSpPr>
          <p:nvPr>
            <p:ph type="body" sz="half" idx="2"/>
          </p:nvPr>
        </p:nvSpPr>
        <p:spPr/>
        <p:txBody>
          <a:bodyPr/>
          <a:lstStyle/>
          <a:p>
            <a:endParaRPr lang="en-US" dirty="0"/>
          </a:p>
        </p:txBody>
      </p:sp>
    </p:spTree>
    <p:extLst>
      <p:ext uri="{BB962C8B-B14F-4D97-AF65-F5344CB8AC3E}">
        <p14:creationId xmlns:p14="http://schemas.microsoft.com/office/powerpoint/2010/main" val="12477183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add title</a:t>
            </a:r>
          </a:p>
        </p:txBody>
      </p:sp>
      <p:pic>
        <p:nvPicPr>
          <p:cNvPr id="7" name="Picture Placeholder 6"/>
          <p:cNvPicPr>
            <a:picLocks noGrp="1" noChangeAspect="1"/>
          </p:cNvPicPr>
          <p:nvPr>
            <p:ph type="pic" idx="1"/>
          </p:nvPr>
        </p:nvPicPr>
        <p:blipFill>
          <a:blip r:embed="rId2" cstate="screen">
            <a:extLst>
              <a:ext uri="{28A0092B-C50C-407E-A947-70E740481C1C}">
                <a14:useLocalDpi xmlns:a14="http://schemas.microsoft.com/office/drawing/2010/main"/>
              </a:ext>
            </a:extLst>
          </a:blip>
          <a:srcRect/>
          <a:stretch/>
        </p:blipFill>
        <p:spPr>
          <a:xfrm>
            <a:off x="5183189" y="2"/>
            <a:ext cx="7008812" cy="6857999"/>
          </a:xfrm>
        </p:spPr>
      </p:pic>
      <p:sp>
        <p:nvSpPr>
          <p:cNvPr id="4" name="Text Placeholder 3"/>
          <p:cNvSpPr>
            <a:spLocks noGrp="1"/>
          </p:cNvSpPr>
          <p:nvPr>
            <p:ph type="body" sz="half" idx="2"/>
          </p:nvPr>
        </p:nvSpPr>
        <p:spPr/>
        <p:txBody>
          <a:bodyPr/>
          <a:lstStyle/>
          <a:p>
            <a:r>
              <a:rPr lang="en-US" dirty="0"/>
              <a:t>Supporting text goes here</a:t>
            </a:r>
          </a:p>
        </p:txBody>
      </p:sp>
    </p:spTree>
    <p:extLst>
      <p:ext uri="{BB962C8B-B14F-4D97-AF65-F5344CB8AC3E}">
        <p14:creationId xmlns:p14="http://schemas.microsoft.com/office/powerpoint/2010/main" val="10772203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2034823" y="2531096"/>
            <a:ext cx="9144000" cy="1655763"/>
          </a:xfrm>
        </p:spPr>
        <p:txBody>
          <a:bodyPr/>
          <a:lstStyle/>
          <a:p>
            <a:endParaRPr lang="en-US"/>
          </a:p>
        </p:txBody>
      </p:sp>
      <p:cxnSp>
        <p:nvCxnSpPr>
          <p:cNvPr id="3" name="Straight Connector 2"/>
          <p:cNvCxnSpPr/>
          <p:nvPr/>
        </p:nvCxnSpPr>
        <p:spPr>
          <a:xfrm flipH="1" flipV="1">
            <a:off x="1835085" y="2531098"/>
            <a:ext cx="1155" cy="1450391"/>
          </a:xfrm>
          <a:prstGeom prst="line">
            <a:avLst/>
          </a:prstGeom>
          <a:ln w="28575">
            <a:solidFill>
              <a:srgbClr val="D2492A"/>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83801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A group of people in a cardboard box&#10;&#10;Description automatically generated with medium confidence">
            <a:extLst>
              <a:ext uri="{FF2B5EF4-FFF2-40B4-BE49-F238E27FC236}">
                <a16:creationId xmlns:a16="http://schemas.microsoft.com/office/drawing/2014/main" id="{9425B306-E587-1DB3-E193-1D8380DE67C6}"/>
              </a:ext>
            </a:extLst>
          </p:cNvPr>
          <p:cNvPicPr>
            <a:picLocks noGrp="1" noChangeAspect="1"/>
          </p:cNvPicPr>
          <p:nvPr>
            <p:ph type="pic" idx="1"/>
          </p:nvPr>
        </p:nvPicPr>
        <p:blipFill>
          <a:blip r:embed="rId2" cstate="screen">
            <a:extLst>
              <a:ext uri="{28A0092B-C50C-407E-A947-70E740481C1C}">
                <a14:useLocalDpi xmlns:a14="http://schemas.microsoft.com/office/drawing/2010/main"/>
              </a:ext>
            </a:extLst>
          </a:blip>
          <a:srcRect/>
          <a:stretch>
            <a:fillRect/>
          </a:stretch>
        </p:blipFill>
        <p:spPr/>
      </p:pic>
      <p:sp>
        <p:nvSpPr>
          <p:cNvPr id="3" name="Title 2">
            <a:extLst>
              <a:ext uri="{FF2B5EF4-FFF2-40B4-BE49-F238E27FC236}">
                <a16:creationId xmlns:a16="http://schemas.microsoft.com/office/drawing/2014/main" id="{04230C25-DBA6-6785-DB36-4472B5B395BE}"/>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2676753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a:p>
        </p:txBody>
      </p:sp>
      <p:pic>
        <p:nvPicPr>
          <p:cNvPr id="8" name="Picture Placeholder 7" descr="A group of people walking on a brick path&#10;&#10;Description automatically generated">
            <a:extLst>
              <a:ext uri="{FF2B5EF4-FFF2-40B4-BE49-F238E27FC236}">
                <a16:creationId xmlns:a16="http://schemas.microsoft.com/office/drawing/2014/main" id="{50F307F0-1D88-0C9E-1736-31D5E120EFC5}"/>
              </a:ext>
            </a:extLst>
          </p:cNvPr>
          <p:cNvPicPr>
            <a:picLocks noGrp="1" noChangeAspect="1"/>
          </p:cNvPicPr>
          <p:nvPr>
            <p:ph type="pic" idx="10"/>
          </p:nvPr>
        </p:nvPicPr>
        <p:blipFill>
          <a:blip r:embed="rId2" cstate="screen">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297007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8420561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3"/>
          <p:cNvPicPr>
            <a:picLocks noGrp="1" noChangeAspect="1"/>
          </p:cNvPicPr>
          <p:nvPr>
            <p:ph type="pic" idx="1"/>
          </p:nvPr>
        </p:nvPicPr>
        <p:blipFill rotWithShape="1">
          <a:blip r:embed="rId2" cstate="screen">
            <a:extLst>
              <a:ext uri="{28A0092B-C50C-407E-A947-70E740481C1C}">
                <a14:useLocalDpi xmlns:a14="http://schemas.microsoft.com/office/drawing/2010/main"/>
              </a:ext>
            </a:extLst>
          </a:blip>
          <a:srcRect/>
          <a:stretch/>
        </p:blipFill>
        <p:spPr>
          <a:xfrm>
            <a:off x="-75414" y="0"/>
            <a:ext cx="12267414" cy="6858000"/>
          </a:xfrm>
        </p:spPr>
      </p:pic>
      <p:sp>
        <p:nvSpPr>
          <p:cNvPr id="5" name="Rectangle 4"/>
          <p:cNvSpPr/>
          <p:nvPr/>
        </p:nvSpPr>
        <p:spPr>
          <a:xfrm>
            <a:off x="4034672" y="5420414"/>
            <a:ext cx="8157328" cy="791852"/>
          </a:xfrm>
          <a:prstGeom prst="rect">
            <a:avLst/>
          </a:prstGeom>
          <a:solidFill>
            <a:srgbClr val="2131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4345758" y="5618376"/>
            <a:ext cx="7409468" cy="400110"/>
          </a:xfrm>
          <a:prstGeom prst="rect">
            <a:avLst/>
          </a:prstGeom>
          <a:noFill/>
        </p:spPr>
        <p:txBody>
          <a:bodyPr wrap="square" rtlCol="0">
            <a:spAutoFit/>
          </a:bodyPr>
          <a:lstStyle/>
          <a:p>
            <a:r>
              <a:rPr lang="en-US" sz="2000" dirty="0">
                <a:solidFill>
                  <a:schemeClr val="bg1"/>
                </a:solidFill>
                <a:latin typeface="Gotham Medium" charset="0"/>
                <a:ea typeface="Gotham Medium" charset="0"/>
                <a:cs typeface="Gotham Medium" charset="0"/>
              </a:rPr>
              <a:t>Place text over photo in solid blue box.</a:t>
            </a:r>
          </a:p>
        </p:txBody>
      </p:sp>
    </p:spTree>
    <p:extLst>
      <p:ext uri="{BB962C8B-B14F-4D97-AF65-F5344CB8AC3E}">
        <p14:creationId xmlns:p14="http://schemas.microsoft.com/office/powerpoint/2010/main" val="6455186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111753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Mines logos: Institutional mark</a:t>
            </a:r>
          </a:p>
        </p:txBody>
      </p:sp>
      <p:sp>
        <p:nvSpPr>
          <p:cNvPr id="3" name="Content Placeholder 2"/>
          <p:cNvSpPr>
            <a:spLocks noGrp="1"/>
          </p:cNvSpPr>
          <p:nvPr>
            <p:ph idx="1"/>
          </p:nvPr>
        </p:nvSpPr>
        <p:spPr/>
        <p:txBody>
          <a:bodyPr/>
          <a:lstStyle/>
          <a:p>
            <a:endParaRPr lang="en-US" dirty="0"/>
          </a:p>
          <a:p>
            <a:endParaRPr lang="en-US" dirty="0"/>
          </a:p>
        </p:txBody>
      </p:sp>
      <p:sp>
        <p:nvSpPr>
          <p:cNvPr id="13" name="TextBox 12"/>
          <p:cNvSpPr txBox="1"/>
          <p:nvPr/>
        </p:nvSpPr>
        <p:spPr>
          <a:xfrm>
            <a:off x="974878" y="1478671"/>
            <a:ext cx="10515600" cy="1477328"/>
          </a:xfrm>
          <a:prstGeom prst="rect">
            <a:avLst/>
          </a:prstGeom>
          <a:noFill/>
        </p:spPr>
        <p:txBody>
          <a:bodyPr wrap="square" lIns="0" tIns="0" rIns="0" bIns="0" rtlCol="0">
            <a:spAutoFit/>
          </a:bodyPr>
          <a:lstStyle/>
          <a:p>
            <a:pPr algn="l" fontAlgn="base"/>
            <a:r>
              <a:rPr lang="en-US" sz="1600" b="0" i="0" u="none" strike="noStrike" dirty="0">
                <a:effectLst/>
                <a:latin typeface="Arial" panose="020B0604020202020204" pitchFamily="34" charset="0"/>
                <a:cs typeface="Arial" panose="020B0604020202020204" pitchFamily="34" charset="0"/>
              </a:rPr>
              <a:t>The Colorado School of Mines institutional mark should be primarily used on materials that have a long shelf life or serve as primary recruitment tools for external audiences. Academic and administrative communications and marketing materials should default to this mark.</a:t>
            </a:r>
          </a:p>
          <a:p>
            <a:pPr algn="l" fontAlgn="base"/>
            <a:endParaRPr lang="en-US" sz="1600" b="1" i="0" u="none" strike="noStrike" dirty="0">
              <a:effectLst/>
              <a:latin typeface="Arial" panose="020B0604020202020204" pitchFamily="34" charset="0"/>
              <a:cs typeface="Arial" panose="020B0604020202020204" pitchFamily="34" charset="0"/>
            </a:endParaRPr>
          </a:p>
          <a:p>
            <a:pPr algn="l" fontAlgn="base"/>
            <a:r>
              <a:rPr lang="en-US" sz="1600" b="1" dirty="0">
                <a:latin typeface="Arial" panose="020B0604020202020204" pitchFamily="34" charset="0"/>
                <a:cs typeface="Arial" panose="020B0604020202020204" pitchFamily="34" charset="0"/>
              </a:rPr>
              <a:t>For more information regarding when and how to use the Mines logos, as well as downloads, please visit </a:t>
            </a:r>
            <a:r>
              <a:rPr lang="en-US" sz="1600" b="1" dirty="0" err="1">
                <a:latin typeface="Arial" panose="020B0604020202020204" pitchFamily="34" charset="0"/>
                <a:cs typeface="Arial" panose="020B0604020202020204" pitchFamily="34" charset="0"/>
              </a:rPr>
              <a:t>brand.mines.edu</a:t>
            </a:r>
            <a:r>
              <a:rPr lang="en-US" sz="1600" b="1" dirty="0">
                <a:latin typeface="Arial" panose="020B0604020202020204" pitchFamily="34" charset="0"/>
                <a:cs typeface="Arial" panose="020B0604020202020204" pitchFamily="34" charset="0"/>
              </a:rPr>
              <a:t>. </a:t>
            </a:r>
            <a:endParaRPr lang="en-US" sz="1600" b="1" i="0" u="none" strike="noStrike" dirty="0">
              <a:effectLst/>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E03D51E1-D78F-C9B8-322C-CA25F5DCDE93}"/>
              </a:ext>
            </a:extLst>
          </p:cNvPr>
          <p:cNvSpPr/>
          <p:nvPr/>
        </p:nvSpPr>
        <p:spPr>
          <a:xfrm>
            <a:off x="8555830" y="4399863"/>
            <a:ext cx="3080597" cy="979466"/>
          </a:xfrm>
          <a:prstGeom prst="rect">
            <a:avLst/>
          </a:prstGeom>
          <a:solidFill>
            <a:srgbClr val="21314D"/>
          </a:solidFill>
          <a:ln>
            <a:noFill/>
          </a:ln>
        </p:spPr>
        <p:style>
          <a:lnRef idx="2">
            <a:schemeClr val="accent1">
              <a:shade val="50000"/>
            </a:schemeClr>
          </a:lnRef>
          <a:fillRef idx="1">
            <a:schemeClr val="accent1"/>
          </a:fillRef>
          <a:effectRef idx="0">
            <a:schemeClr val="accent1"/>
          </a:effectRef>
          <a:fontRef idx="minor">
            <a:schemeClr val="lt1"/>
          </a:fontRef>
        </p:style>
        <p:txBody>
          <a:bodyPr lIns="139959" tIns="69980" rIns="139959" bIns="69980" rtlCol="0" anchor="ctr"/>
          <a:lstStyle/>
          <a:p>
            <a:pPr algn="ctr"/>
            <a:endParaRPr lang="en-US" sz="2747">
              <a:solidFill>
                <a:srgbClr val="21314D"/>
              </a:solidFill>
              <a:latin typeface="+mj-lt"/>
            </a:endParaRPr>
          </a:p>
        </p:txBody>
      </p:sp>
      <p:sp>
        <p:nvSpPr>
          <p:cNvPr id="6" name="Rectangle 5">
            <a:extLst>
              <a:ext uri="{FF2B5EF4-FFF2-40B4-BE49-F238E27FC236}">
                <a16:creationId xmlns:a16="http://schemas.microsoft.com/office/drawing/2014/main" id="{738DE762-AF32-4B72-7DD9-AFB8F886256E}"/>
              </a:ext>
            </a:extLst>
          </p:cNvPr>
          <p:cNvSpPr/>
          <p:nvPr/>
        </p:nvSpPr>
        <p:spPr>
          <a:xfrm>
            <a:off x="2543175" y="3854666"/>
            <a:ext cx="2185988" cy="2085975"/>
          </a:xfrm>
          <a:prstGeom prst="rect">
            <a:avLst/>
          </a:prstGeom>
          <a:solidFill>
            <a:srgbClr val="21314D"/>
          </a:solidFill>
          <a:ln>
            <a:noFill/>
          </a:ln>
        </p:spPr>
        <p:style>
          <a:lnRef idx="2">
            <a:schemeClr val="accent1">
              <a:shade val="50000"/>
            </a:schemeClr>
          </a:lnRef>
          <a:fillRef idx="1">
            <a:schemeClr val="accent1"/>
          </a:fillRef>
          <a:effectRef idx="0">
            <a:schemeClr val="accent1"/>
          </a:effectRef>
          <a:fontRef idx="minor">
            <a:schemeClr val="lt1"/>
          </a:fontRef>
        </p:style>
        <p:txBody>
          <a:bodyPr lIns="139959" tIns="69980" rIns="139959" bIns="69980" rtlCol="0" anchor="ctr"/>
          <a:lstStyle/>
          <a:p>
            <a:pPr algn="ctr"/>
            <a:endParaRPr lang="en-US" sz="2747">
              <a:solidFill>
                <a:srgbClr val="21314D"/>
              </a:solidFill>
              <a:latin typeface="+mj-lt"/>
            </a:endParaRPr>
          </a:p>
        </p:txBody>
      </p:sp>
      <p:pic>
        <p:nvPicPr>
          <p:cNvPr id="7" name="Picture 6">
            <a:extLst>
              <a:ext uri="{FF2B5EF4-FFF2-40B4-BE49-F238E27FC236}">
                <a16:creationId xmlns:a16="http://schemas.microsoft.com/office/drawing/2014/main" id="{4B8892BF-1AB9-55B9-6713-54C37AB80948}"/>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555572" y="4012992"/>
            <a:ext cx="1849716" cy="1753209"/>
          </a:xfrm>
          <a:prstGeom prst="rect">
            <a:avLst/>
          </a:prstGeom>
        </p:spPr>
      </p:pic>
      <p:pic>
        <p:nvPicPr>
          <p:cNvPr id="8" name="Picture 7">
            <a:extLst>
              <a:ext uri="{FF2B5EF4-FFF2-40B4-BE49-F238E27FC236}">
                <a16:creationId xmlns:a16="http://schemas.microsoft.com/office/drawing/2014/main" id="{1B397E24-663B-F2B2-A0A9-51FC4D331E34}"/>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2727272" y="4012992"/>
            <a:ext cx="1849716" cy="1753209"/>
          </a:xfrm>
          <a:prstGeom prst="rect">
            <a:avLst/>
          </a:prstGeom>
        </p:spPr>
      </p:pic>
      <p:pic>
        <p:nvPicPr>
          <p:cNvPr id="9" name="Picture 8">
            <a:extLst>
              <a:ext uri="{FF2B5EF4-FFF2-40B4-BE49-F238E27FC236}">
                <a16:creationId xmlns:a16="http://schemas.microsoft.com/office/drawing/2014/main" id="{300FF230-73A4-1332-C3CC-DE7CF6E491A3}"/>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572958" y="4399863"/>
            <a:ext cx="2681871" cy="979466"/>
          </a:xfrm>
          <a:prstGeom prst="rect">
            <a:avLst/>
          </a:prstGeom>
        </p:spPr>
      </p:pic>
      <p:pic>
        <p:nvPicPr>
          <p:cNvPr id="10" name="Picture 9">
            <a:extLst>
              <a:ext uri="{FF2B5EF4-FFF2-40B4-BE49-F238E27FC236}">
                <a16:creationId xmlns:a16="http://schemas.microsoft.com/office/drawing/2014/main" id="{180570CD-B088-1BF3-3EED-F817D94F27B9}"/>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730495" y="4399863"/>
            <a:ext cx="2681871" cy="979466"/>
          </a:xfrm>
          <a:prstGeom prst="rect">
            <a:avLst/>
          </a:prstGeom>
        </p:spPr>
      </p:pic>
    </p:spTree>
    <p:extLst>
      <p:ext uri="{BB962C8B-B14F-4D97-AF65-F5344CB8AC3E}">
        <p14:creationId xmlns:p14="http://schemas.microsoft.com/office/powerpoint/2010/main" val="2485051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Mines logos: Anniversary mark</a:t>
            </a:r>
          </a:p>
        </p:txBody>
      </p:sp>
      <p:sp>
        <p:nvSpPr>
          <p:cNvPr id="3" name="Content Placeholder 2"/>
          <p:cNvSpPr>
            <a:spLocks noGrp="1"/>
          </p:cNvSpPr>
          <p:nvPr>
            <p:ph idx="1"/>
          </p:nvPr>
        </p:nvSpPr>
        <p:spPr/>
        <p:txBody>
          <a:bodyPr/>
          <a:lstStyle/>
          <a:p>
            <a:endParaRPr lang="en-US" dirty="0"/>
          </a:p>
          <a:p>
            <a:endParaRPr lang="en-US" dirty="0"/>
          </a:p>
        </p:txBody>
      </p:sp>
      <p:sp>
        <p:nvSpPr>
          <p:cNvPr id="13" name="TextBox 12"/>
          <p:cNvSpPr txBox="1"/>
          <p:nvPr/>
        </p:nvSpPr>
        <p:spPr>
          <a:xfrm>
            <a:off x="974878" y="1478671"/>
            <a:ext cx="10515600" cy="1477328"/>
          </a:xfrm>
          <a:prstGeom prst="rect">
            <a:avLst/>
          </a:prstGeom>
          <a:noFill/>
        </p:spPr>
        <p:txBody>
          <a:bodyPr wrap="square" lIns="0" tIns="0" rIns="0" bIns="0" rtlCol="0">
            <a:spAutoFit/>
          </a:bodyPr>
          <a:lstStyle/>
          <a:p>
            <a:pPr algn="l" fontAlgn="base"/>
            <a:r>
              <a:rPr lang="en-US" sz="1600" i="0" u="none" strike="noStrike" dirty="0">
                <a:effectLst/>
                <a:latin typeface="Arial" panose="020B0604020202020204" pitchFamily="34" charset="0"/>
                <a:cs typeface="Arial" panose="020B0604020202020204" pitchFamily="34" charset="0"/>
              </a:rPr>
              <a:t>The MINES@150 anniversary lockup should be used during the anniversary year and when celebrating the institution’s 150th anniversary, such as events, digital spaces, gifts in the form of merchandise and apparel, magazines and publications from spring 2023-fall 2024. </a:t>
            </a:r>
            <a:endParaRPr lang="en-US" sz="1600" dirty="0">
              <a:latin typeface="Arial" panose="020B0604020202020204" pitchFamily="34" charset="0"/>
              <a:cs typeface="Arial" panose="020B0604020202020204" pitchFamily="34" charset="0"/>
            </a:endParaRPr>
          </a:p>
          <a:p>
            <a:pPr algn="l" fontAlgn="base"/>
            <a:endParaRPr lang="en-US" sz="1600" b="1" i="0" u="none" strike="noStrike" dirty="0">
              <a:effectLst/>
              <a:latin typeface="Arial" panose="020B0604020202020204" pitchFamily="34" charset="0"/>
              <a:cs typeface="Arial" panose="020B0604020202020204" pitchFamily="34" charset="0"/>
            </a:endParaRPr>
          </a:p>
          <a:p>
            <a:pPr algn="l" fontAlgn="base"/>
            <a:r>
              <a:rPr lang="en-US" sz="1600" b="1" dirty="0">
                <a:latin typeface="Arial" panose="020B0604020202020204" pitchFamily="34" charset="0"/>
                <a:cs typeface="Arial" panose="020B0604020202020204" pitchFamily="34" charset="0"/>
              </a:rPr>
              <a:t>For more information regarding when and how to use the Mines logos, as well as downloads, please visit </a:t>
            </a:r>
            <a:r>
              <a:rPr lang="en-US" sz="1600" b="1" dirty="0" err="1">
                <a:latin typeface="Arial" panose="020B0604020202020204" pitchFamily="34" charset="0"/>
                <a:cs typeface="Arial" panose="020B0604020202020204" pitchFamily="34" charset="0"/>
              </a:rPr>
              <a:t>brand.mines.edu</a:t>
            </a:r>
            <a:r>
              <a:rPr lang="en-US" sz="1600" b="1" dirty="0">
                <a:latin typeface="Arial" panose="020B0604020202020204" pitchFamily="34" charset="0"/>
                <a:cs typeface="Arial" panose="020B0604020202020204" pitchFamily="34" charset="0"/>
              </a:rPr>
              <a:t>. </a:t>
            </a:r>
            <a:endParaRPr lang="en-US" sz="1600" b="1" i="0" u="none" strike="noStrike" dirty="0">
              <a:effectLst/>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457896AC-6448-69BD-5806-B4DC1166A389}"/>
              </a:ext>
            </a:extLst>
          </p:cNvPr>
          <p:cNvSpPr/>
          <p:nvPr/>
        </p:nvSpPr>
        <p:spPr>
          <a:xfrm>
            <a:off x="8655582" y="3974197"/>
            <a:ext cx="3080597" cy="979466"/>
          </a:xfrm>
          <a:prstGeom prst="rect">
            <a:avLst/>
          </a:prstGeom>
          <a:solidFill>
            <a:srgbClr val="21314D"/>
          </a:solidFill>
          <a:ln>
            <a:noFill/>
          </a:ln>
        </p:spPr>
        <p:style>
          <a:lnRef idx="2">
            <a:schemeClr val="accent1">
              <a:shade val="50000"/>
            </a:schemeClr>
          </a:lnRef>
          <a:fillRef idx="1">
            <a:schemeClr val="accent1"/>
          </a:fillRef>
          <a:effectRef idx="0">
            <a:schemeClr val="accent1"/>
          </a:effectRef>
          <a:fontRef idx="minor">
            <a:schemeClr val="lt1"/>
          </a:fontRef>
        </p:style>
        <p:txBody>
          <a:bodyPr lIns="139959" tIns="69980" rIns="139959" bIns="69980" rtlCol="0" anchor="ctr"/>
          <a:lstStyle/>
          <a:p>
            <a:pPr algn="ctr"/>
            <a:endParaRPr lang="en-US" sz="2747">
              <a:solidFill>
                <a:srgbClr val="21314D"/>
              </a:solidFill>
              <a:latin typeface="+mj-lt"/>
            </a:endParaRPr>
          </a:p>
        </p:txBody>
      </p:sp>
      <p:sp>
        <p:nvSpPr>
          <p:cNvPr id="11" name="Rectangle 10">
            <a:extLst>
              <a:ext uri="{FF2B5EF4-FFF2-40B4-BE49-F238E27FC236}">
                <a16:creationId xmlns:a16="http://schemas.microsoft.com/office/drawing/2014/main" id="{797AD009-17D8-07CA-7AB7-B43C390F2815}"/>
              </a:ext>
            </a:extLst>
          </p:cNvPr>
          <p:cNvSpPr/>
          <p:nvPr/>
        </p:nvSpPr>
        <p:spPr>
          <a:xfrm>
            <a:off x="2642927" y="3429000"/>
            <a:ext cx="2185988" cy="2085975"/>
          </a:xfrm>
          <a:prstGeom prst="rect">
            <a:avLst/>
          </a:prstGeom>
          <a:solidFill>
            <a:srgbClr val="21314D"/>
          </a:solidFill>
          <a:ln>
            <a:noFill/>
          </a:ln>
        </p:spPr>
        <p:style>
          <a:lnRef idx="2">
            <a:schemeClr val="accent1">
              <a:shade val="50000"/>
            </a:schemeClr>
          </a:lnRef>
          <a:fillRef idx="1">
            <a:schemeClr val="accent1"/>
          </a:fillRef>
          <a:effectRef idx="0">
            <a:schemeClr val="accent1"/>
          </a:effectRef>
          <a:fontRef idx="minor">
            <a:schemeClr val="lt1"/>
          </a:fontRef>
        </p:style>
        <p:txBody>
          <a:bodyPr lIns="139959" tIns="69980" rIns="139959" bIns="69980" rtlCol="0" anchor="ctr"/>
          <a:lstStyle/>
          <a:p>
            <a:pPr algn="ctr"/>
            <a:endParaRPr lang="en-US" sz="2747">
              <a:solidFill>
                <a:srgbClr val="21314D"/>
              </a:solidFill>
              <a:latin typeface="+mj-lt"/>
            </a:endParaRPr>
          </a:p>
        </p:txBody>
      </p:sp>
      <p:pic>
        <p:nvPicPr>
          <p:cNvPr id="12" name="Picture 11" descr="Logo, company name&#10;&#10;Description automatically generated">
            <a:extLst>
              <a:ext uri="{FF2B5EF4-FFF2-40B4-BE49-F238E27FC236}">
                <a16:creationId xmlns:a16="http://schemas.microsoft.com/office/drawing/2014/main" id="{E3AEBE61-2BC1-2F1D-FB15-94CF5FD3741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55324" y="3563818"/>
            <a:ext cx="1849716" cy="1800225"/>
          </a:xfrm>
          <a:prstGeom prst="rect">
            <a:avLst/>
          </a:prstGeom>
        </p:spPr>
      </p:pic>
      <p:pic>
        <p:nvPicPr>
          <p:cNvPr id="14" name="Picture 13">
            <a:extLst>
              <a:ext uri="{FF2B5EF4-FFF2-40B4-BE49-F238E27FC236}">
                <a16:creationId xmlns:a16="http://schemas.microsoft.com/office/drawing/2014/main" id="{1523E1AD-EDAB-CF33-EACD-FB5785C4D050}"/>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2827024" y="3563818"/>
            <a:ext cx="1849715" cy="1800225"/>
          </a:xfrm>
          <a:prstGeom prst="rect">
            <a:avLst/>
          </a:prstGeom>
        </p:spPr>
      </p:pic>
      <p:pic>
        <p:nvPicPr>
          <p:cNvPr id="15" name="Picture 14" descr="A picture containing text, sign, outdoor&#10;&#10;Description automatically generated">
            <a:extLst>
              <a:ext uri="{FF2B5EF4-FFF2-40B4-BE49-F238E27FC236}">
                <a16:creationId xmlns:a16="http://schemas.microsoft.com/office/drawing/2014/main" id="{9E8B89BB-44DA-06FB-C328-0E627AE718C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570223" y="3974197"/>
            <a:ext cx="2886846" cy="979466"/>
          </a:xfrm>
          <a:prstGeom prst="rect">
            <a:avLst/>
          </a:prstGeom>
        </p:spPr>
      </p:pic>
      <p:pic>
        <p:nvPicPr>
          <p:cNvPr id="16" name="Picture 15">
            <a:extLst>
              <a:ext uri="{FF2B5EF4-FFF2-40B4-BE49-F238E27FC236}">
                <a16:creationId xmlns:a16="http://schemas.microsoft.com/office/drawing/2014/main" id="{C179F8AF-EFC5-2E8A-BA97-EEDD66579B0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727760" y="4012111"/>
            <a:ext cx="2886846" cy="903638"/>
          </a:xfrm>
          <a:prstGeom prst="rect">
            <a:avLst/>
          </a:prstGeom>
        </p:spPr>
      </p:pic>
    </p:spTree>
    <p:extLst>
      <p:ext uri="{BB962C8B-B14F-4D97-AF65-F5344CB8AC3E}">
        <p14:creationId xmlns:p14="http://schemas.microsoft.com/office/powerpoint/2010/main" val="27758305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Mines color palette</a:t>
            </a:r>
          </a:p>
        </p:txBody>
      </p:sp>
      <p:sp>
        <p:nvSpPr>
          <p:cNvPr id="3" name="Content Placeholder 2"/>
          <p:cNvSpPr>
            <a:spLocks noGrp="1"/>
          </p:cNvSpPr>
          <p:nvPr>
            <p:ph idx="1"/>
          </p:nvPr>
        </p:nvSpPr>
        <p:spPr/>
        <p:txBody>
          <a:bodyPr/>
          <a:lstStyle/>
          <a:p>
            <a:endParaRPr lang="en-US" dirty="0"/>
          </a:p>
          <a:p>
            <a:endParaRPr lang="en-US" dirty="0"/>
          </a:p>
        </p:txBody>
      </p:sp>
      <p:sp>
        <p:nvSpPr>
          <p:cNvPr id="4" name="Text Placeholder 6">
            <a:extLst>
              <a:ext uri="{FF2B5EF4-FFF2-40B4-BE49-F238E27FC236}">
                <a16:creationId xmlns:a16="http://schemas.microsoft.com/office/drawing/2014/main" id="{E7B9317A-A3FB-FA23-0E05-BFCD368FA7A5}"/>
              </a:ext>
            </a:extLst>
          </p:cNvPr>
          <p:cNvSpPr txBox="1">
            <a:spLocks/>
          </p:cNvSpPr>
          <p:nvPr/>
        </p:nvSpPr>
        <p:spPr>
          <a:xfrm>
            <a:off x="838200" y="1825624"/>
            <a:ext cx="11016343" cy="860979"/>
          </a:xfrm>
          <a:prstGeom prst="rect">
            <a:avLst/>
          </a:prstGeom>
        </p:spPr>
        <p:txBody>
          <a:bodyPr/>
          <a:lstStyle>
            <a:lvl1pPr marL="228594" indent="-228594" algn="l" defTabSz="914377" rtl="0" eaLnBrk="1" latinLnBrk="0" hangingPunct="1">
              <a:lnSpc>
                <a:spcPct val="90000"/>
              </a:lnSpc>
              <a:spcBef>
                <a:spcPts val="1000"/>
              </a:spcBef>
              <a:buFont typeface="Arial"/>
              <a:buChar char="•"/>
              <a:defRPr sz="2800" b="0" i="0" kern="1200">
                <a:solidFill>
                  <a:schemeClr val="tx1"/>
                </a:solidFill>
                <a:latin typeface="Arial" panose="020B0604020202020204" pitchFamily="34" charset="0"/>
                <a:ea typeface="Arial" panose="020B0604020202020204" pitchFamily="34" charset="0"/>
                <a:cs typeface="Arial" panose="020B0604020202020204" pitchFamily="34" charset="0"/>
              </a:defRPr>
            </a:lvl1pPr>
            <a:lvl2pPr marL="685783" indent="-228594" algn="l" defTabSz="914377" rtl="0" eaLnBrk="1" latinLnBrk="0" hangingPunct="1">
              <a:lnSpc>
                <a:spcPct val="90000"/>
              </a:lnSpc>
              <a:spcBef>
                <a:spcPts val="500"/>
              </a:spcBef>
              <a:buFont typeface="Arial"/>
              <a:buChar char="•"/>
              <a:defRPr sz="2400" b="0" i="0" kern="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2971" indent="-228594" algn="l" defTabSz="914377" rtl="0" eaLnBrk="1" latinLnBrk="0" hangingPunct="1">
              <a:lnSpc>
                <a:spcPct val="90000"/>
              </a:lnSpc>
              <a:spcBef>
                <a:spcPts val="500"/>
              </a:spcBef>
              <a:buFont typeface="Arial"/>
              <a:buChar char="•"/>
              <a:defRPr sz="2000" b="0" i="0" kern="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160" indent="-228594" algn="l" defTabSz="914377" rtl="0" eaLnBrk="1" latinLnBrk="0" hangingPunct="1">
              <a:lnSpc>
                <a:spcPct val="90000"/>
              </a:lnSpc>
              <a:spcBef>
                <a:spcPts val="500"/>
              </a:spcBef>
              <a:buFont typeface="Arial"/>
              <a:buChar char="•"/>
              <a:defRPr sz="1800" b="0" i="0" kern="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349" indent="-228594" algn="l" defTabSz="914377" rtl="0" eaLnBrk="1" latinLnBrk="0" hangingPunct="1">
              <a:lnSpc>
                <a:spcPct val="90000"/>
              </a:lnSpc>
              <a:spcBef>
                <a:spcPts val="500"/>
              </a:spcBef>
              <a:buFont typeface="Arial"/>
              <a:buChar char="•"/>
              <a:defRPr sz="1800" b="0" i="0" kern="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537"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tabLst>
                <a:tab pos="1941513" algn="l"/>
              </a:tabLst>
            </a:pPr>
            <a:r>
              <a:rPr lang="en-US" sz="2000" dirty="0"/>
              <a:t>At our core, we are dark blue. We have an expanded set of secondary blues to accent our core color and vibrant Colorado Red, which adds warmth to the palette.</a:t>
            </a:r>
          </a:p>
        </p:txBody>
      </p:sp>
      <p:sp>
        <p:nvSpPr>
          <p:cNvPr id="5" name="Rectangle 4">
            <a:extLst>
              <a:ext uri="{FF2B5EF4-FFF2-40B4-BE49-F238E27FC236}">
                <a16:creationId xmlns:a16="http://schemas.microsoft.com/office/drawing/2014/main" id="{439A6E23-1E79-E6C0-1827-F4215E0C8552}"/>
              </a:ext>
            </a:extLst>
          </p:cNvPr>
          <p:cNvSpPr/>
          <p:nvPr/>
        </p:nvSpPr>
        <p:spPr>
          <a:xfrm>
            <a:off x="978654" y="3289488"/>
            <a:ext cx="730331" cy="752461"/>
          </a:xfrm>
          <a:prstGeom prst="rect">
            <a:avLst/>
          </a:prstGeom>
          <a:solidFill>
            <a:srgbClr val="21314D"/>
          </a:solidFill>
          <a:ln>
            <a:noFill/>
          </a:ln>
        </p:spPr>
        <p:style>
          <a:lnRef idx="2">
            <a:schemeClr val="accent1">
              <a:shade val="50000"/>
            </a:schemeClr>
          </a:lnRef>
          <a:fillRef idx="1">
            <a:schemeClr val="accent1"/>
          </a:fillRef>
          <a:effectRef idx="0">
            <a:schemeClr val="accent1"/>
          </a:effectRef>
          <a:fontRef idx="minor">
            <a:schemeClr val="lt1"/>
          </a:fontRef>
        </p:style>
        <p:txBody>
          <a:bodyPr lIns="139959" tIns="69980" rIns="139959" bIns="69980" rtlCol="0" anchor="ctr"/>
          <a:lstStyle/>
          <a:p>
            <a:pPr algn="ctr"/>
            <a:endParaRPr lang="en-US" sz="2747">
              <a:solidFill>
                <a:srgbClr val="21314D"/>
              </a:solidFill>
              <a:latin typeface="+mj-lt"/>
            </a:endParaRPr>
          </a:p>
        </p:txBody>
      </p:sp>
      <p:sp>
        <p:nvSpPr>
          <p:cNvPr id="26" name="TextBox 25">
            <a:extLst>
              <a:ext uri="{FF2B5EF4-FFF2-40B4-BE49-F238E27FC236}">
                <a16:creationId xmlns:a16="http://schemas.microsoft.com/office/drawing/2014/main" id="{43304847-76C4-7A72-056C-4C14954C7190}"/>
              </a:ext>
            </a:extLst>
          </p:cNvPr>
          <p:cNvSpPr txBox="1"/>
          <p:nvPr/>
        </p:nvSpPr>
        <p:spPr>
          <a:xfrm>
            <a:off x="978655" y="4162896"/>
            <a:ext cx="730330" cy="334707"/>
          </a:xfrm>
          <a:prstGeom prst="rect">
            <a:avLst/>
          </a:prstGeom>
          <a:noFill/>
        </p:spPr>
        <p:txBody>
          <a:bodyPr wrap="square" lIns="0" tIns="0" rIns="0" bIns="0" rtlCol="0">
            <a:spAutoFit/>
          </a:bodyPr>
          <a:lstStyle/>
          <a:p>
            <a:pPr algn="ctr">
              <a:lnSpc>
                <a:spcPct val="110000"/>
              </a:lnSpc>
            </a:pPr>
            <a:r>
              <a:rPr lang="en-US" sz="1000" b="1" dirty="0">
                <a:solidFill>
                  <a:srgbClr val="21314D"/>
                </a:solidFill>
                <a:latin typeface="Arial" panose="020B0604020202020204" pitchFamily="34" charset="0"/>
                <a:cs typeface="Arial" panose="020B0604020202020204" pitchFamily="34" charset="0"/>
              </a:rPr>
              <a:t>Dark Blue</a:t>
            </a:r>
          </a:p>
          <a:p>
            <a:pPr algn="ctr">
              <a:lnSpc>
                <a:spcPct val="110000"/>
              </a:lnSpc>
            </a:pPr>
            <a:r>
              <a:rPr lang="en-US" sz="1000" b="1" dirty="0">
                <a:solidFill>
                  <a:srgbClr val="21314D"/>
                </a:solidFill>
                <a:latin typeface="Arial" panose="020B0604020202020204" pitchFamily="34" charset="0"/>
                <a:cs typeface="Arial" panose="020B0604020202020204" pitchFamily="34" charset="0"/>
              </a:rPr>
              <a:t>#00234b</a:t>
            </a:r>
          </a:p>
        </p:txBody>
      </p:sp>
      <p:sp>
        <p:nvSpPr>
          <p:cNvPr id="27" name="Rectangle 26">
            <a:extLst>
              <a:ext uri="{FF2B5EF4-FFF2-40B4-BE49-F238E27FC236}">
                <a16:creationId xmlns:a16="http://schemas.microsoft.com/office/drawing/2014/main" id="{EECAF2C8-76BF-462F-3607-CE83C3B0F298}"/>
              </a:ext>
            </a:extLst>
          </p:cNvPr>
          <p:cNvSpPr/>
          <p:nvPr/>
        </p:nvSpPr>
        <p:spPr>
          <a:xfrm>
            <a:off x="2305515" y="3289488"/>
            <a:ext cx="730331" cy="752461"/>
          </a:xfrm>
          <a:prstGeom prst="rect">
            <a:avLst/>
          </a:prstGeom>
          <a:solidFill>
            <a:srgbClr val="09396C"/>
          </a:solidFill>
          <a:ln>
            <a:noFill/>
          </a:ln>
        </p:spPr>
        <p:style>
          <a:lnRef idx="2">
            <a:schemeClr val="accent1">
              <a:shade val="50000"/>
            </a:schemeClr>
          </a:lnRef>
          <a:fillRef idx="1">
            <a:schemeClr val="accent1"/>
          </a:fillRef>
          <a:effectRef idx="0">
            <a:schemeClr val="accent1"/>
          </a:effectRef>
          <a:fontRef idx="minor">
            <a:schemeClr val="lt1"/>
          </a:fontRef>
        </p:style>
        <p:txBody>
          <a:bodyPr lIns="139959" tIns="69980" rIns="139959" bIns="69980" rtlCol="0" anchor="ctr"/>
          <a:lstStyle/>
          <a:p>
            <a:pPr algn="ctr"/>
            <a:endParaRPr lang="en-US" sz="2747">
              <a:solidFill>
                <a:schemeClr val="bg1"/>
              </a:solidFill>
              <a:latin typeface="+mj-lt"/>
            </a:endParaRPr>
          </a:p>
        </p:txBody>
      </p:sp>
      <p:sp>
        <p:nvSpPr>
          <p:cNvPr id="28" name="Rectangle 27">
            <a:extLst>
              <a:ext uri="{FF2B5EF4-FFF2-40B4-BE49-F238E27FC236}">
                <a16:creationId xmlns:a16="http://schemas.microsoft.com/office/drawing/2014/main" id="{FCAFA49F-580D-A768-0514-EE888B31E2E5}"/>
              </a:ext>
            </a:extLst>
          </p:cNvPr>
          <p:cNvSpPr/>
          <p:nvPr/>
        </p:nvSpPr>
        <p:spPr>
          <a:xfrm>
            <a:off x="3632379" y="3289488"/>
            <a:ext cx="730331" cy="752461"/>
          </a:xfrm>
          <a:prstGeom prst="rect">
            <a:avLst/>
          </a:prstGeom>
          <a:solidFill>
            <a:srgbClr val="879EC3"/>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39959" tIns="69980" rIns="139959" bIns="69980" rtlCol="0" anchor="ctr"/>
          <a:lstStyle/>
          <a:p>
            <a:pPr algn="ctr"/>
            <a:endParaRPr lang="en-US" sz="2747">
              <a:solidFill>
                <a:srgbClr val="DD5F36"/>
              </a:solidFill>
              <a:latin typeface="+mj-lt"/>
            </a:endParaRPr>
          </a:p>
        </p:txBody>
      </p:sp>
      <p:sp>
        <p:nvSpPr>
          <p:cNvPr id="29" name="TextBox 28">
            <a:extLst>
              <a:ext uri="{FF2B5EF4-FFF2-40B4-BE49-F238E27FC236}">
                <a16:creationId xmlns:a16="http://schemas.microsoft.com/office/drawing/2014/main" id="{A3890076-B783-666B-0B6A-D71166F063F9}"/>
              </a:ext>
            </a:extLst>
          </p:cNvPr>
          <p:cNvSpPr txBox="1"/>
          <p:nvPr/>
        </p:nvSpPr>
        <p:spPr>
          <a:xfrm>
            <a:off x="2169798" y="4162896"/>
            <a:ext cx="960104" cy="325410"/>
          </a:xfrm>
          <a:prstGeom prst="rect">
            <a:avLst/>
          </a:prstGeom>
          <a:noFill/>
        </p:spPr>
        <p:txBody>
          <a:bodyPr wrap="square" lIns="0" tIns="0" rIns="0" bIns="0" rtlCol="0">
            <a:spAutoFit/>
          </a:bodyPr>
          <a:lstStyle/>
          <a:p>
            <a:pPr algn="ctr">
              <a:lnSpc>
                <a:spcPct val="110000"/>
              </a:lnSpc>
            </a:pPr>
            <a:r>
              <a:rPr lang="en-US" sz="1000" b="1" dirty="0">
                <a:solidFill>
                  <a:srgbClr val="21314D"/>
                </a:solidFill>
                <a:latin typeface="Arial" panose="020B0604020202020204" pitchFamily="34" charset="0"/>
                <a:cs typeface="Arial" panose="020B0604020202020204" pitchFamily="34" charset="0"/>
              </a:rPr>
              <a:t>Blaster Blue</a:t>
            </a:r>
          </a:p>
          <a:p>
            <a:pPr algn="ctr">
              <a:lnSpc>
                <a:spcPct val="110000"/>
              </a:lnSpc>
            </a:pPr>
            <a:r>
              <a:rPr lang="en-US" sz="1000" b="1" dirty="0">
                <a:solidFill>
                  <a:srgbClr val="21314D"/>
                </a:solidFill>
                <a:latin typeface="Arial" panose="020B0604020202020204" pitchFamily="34" charset="0"/>
                <a:cs typeface="Arial" panose="020B0604020202020204" pitchFamily="34" charset="0"/>
              </a:rPr>
              <a:t>#09396c</a:t>
            </a:r>
          </a:p>
        </p:txBody>
      </p:sp>
      <p:sp>
        <p:nvSpPr>
          <p:cNvPr id="30" name="TextBox 29">
            <a:extLst>
              <a:ext uri="{FF2B5EF4-FFF2-40B4-BE49-F238E27FC236}">
                <a16:creationId xmlns:a16="http://schemas.microsoft.com/office/drawing/2014/main" id="{3530B576-D2DF-B845-89F9-70FD39422BC2}"/>
              </a:ext>
            </a:extLst>
          </p:cNvPr>
          <p:cNvSpPr txBox="1"/>
          <p:nvPr/>
        </p:nvSpPr>
        <p:spPr>
          <a:xfrm>
            <a:off x="3603029" y="4162896"/>
            <a:ext cx="829791" cy="325410"/>
          </a:xfrm>
          <a:prstGeom prst="rect">
            <a:avLst/>
          </a:prstGeom>
          <a:noFill/>
        </p:spPr>
        <p:txBody>
          <a:bodyPr wrap="square" lIns="0" tIns="0" rIns="0" bIns="0" rtlCol="0">
            <a:spAutoFit/>
          </a:bodyPr>
          <a:lstStyle/>
          <a:p>
            <a:pPr algn="ctr">
              <a:lnSpc>
                <a:spcPct val="110000"/>
              </a:lnSpc>
            </a:pPr>
            <a:r>
              <a:rPr lang="en-US" sz="1000" b="1" dirty="0">
                <a:solidFill>
                  <a:srgbClr val="21314D"/>
                </a:solidFill>
                <a:latin typeface="Arial" panose="020B0604020202020204" pitchFamily="34" charset="0"/>
                <a:cs typeface="Arial" panose="020B0604020202020204" pitchFamily="34" charset="0"/>
              </a:rPr>
              <a:t>Light Blue</a:t>
            </a:r>
          </a:p>
          <a:p>
            <a:pPr algn="ctr">
              <a:lnSpc>
                <a:spcPct val="110000"/>
              </a:lnSpc>
            </a:pPr>
            <a:r>
              <a:rPr lang="en-US" sz="1000" b="1" dirty="0">
                <a:solidFill>
                  <a:srgbClr val="21314D"/>
                </a:solidFill>
                <a:latin typeface="Arial" panose="020B0604020202020204" pitchFamily="34" charset="0"/>
                <a:cs typeface="Arial" panose="020B0604020202020204" pitchFamily="34" charset="0"/>
              </a:rPr>
              <a:t>#879ec3</a:t>
            </a:r>
          </a:p>
        </p:txBody>
      </p:sp>
      <p:sp>
        <p:nvSpPr>
          <p:cNvPr id="31" name="Rectangle 30">
            <a:extLst>
              <a:ext uri="{FF2B5EF4-FFF2-40B4-BE49-F238E27FC236}">
                <a16:creationId xmlns:a16="http://schemas.microsoft.com/office/drawing/2014/main" id="{10CB0281-BE0B-219F-CDF3-5F93DC9F1219}"/>
              </a:ext>
            </a:extLst>
          </p:cNvPr>
          <p:cNvSpPr/>
          <p:nvPr/>
        </p:nvSpPr>
        <p:spPr>
          <a:xfrm>
            <a:off x="4959243" y="3289489"/>
            <a:ext cx="730331" cy="752461"/>
          </a:xfrm>
          <a:prstGeom prst="rect">
            <a:avLst/>
          </a:prstGeom>
          <a:solidFill>
            <a:srgbClr val="CC4628"/>
          </a:solidFill>
          <a:ln>
            <a:noFill/>
          </a:ln>
        </p:spPr>
        <p:style>
          <a:lnRef idx="2">
            <a:schemeClr val="accent1">
              <a:shade val="50000"/>
            </a:schemeClr>
          </a:lnRef>
          <a:fillRef idx="1">
            <a:schemeClr val="accent1"/>
          </a:fillRef>
          <a:effectRef idx="0">
            <a:schemeClr val="accent1"/>
          </a:effectRef>
          <a:fontRef idx="minor">
            <a:schemeClr val="lt1"/>
          </a:fontRef>
        </p:style>
        <p:txBody>
          <a:bodyPr lIns="139959" tIns="69980" rIns="139959" bIns="69980" rtlCol="0" anchor="ctr"/>
          <a:lstStyle/>
          <a:p>
            <a:pPr algn="ctr"/>
            <a:endParaRPr lang="en-US" sz="2747" dirty="0">
              <a:solidFill>
                <a:srgbClr val="CC4628"/>
              </a:solidFill>
              <a:latin typeface="+mj-lt"/>
            </a:endParaRPr>
          </a:p>
        </p:txBody>
      </p:sp>
      <p:sp>
        <p:nvSpPr>
          <p:cNvPr id="32" name="TextBox 31">
            <a:extLst>
              <a:ext uri="{FF2B5EF4-FFF2-40B4-BE49-F238E27FC236}">
                <a16:creationId xmlns:a16="http://schemas.microsoft.com/office/drawing/2014/main" id="{711E747A-AD4B-0A73-FDB0-F7BAEAF25E43}"/>
              </a:ext>
            </a:extLst>
          </p:cNvPr>
          <p:cNvSpPr txBox="1"/>
          <p:nvPr/>
        </p:nvSpPr>
        <p:spPr>
          <a:xfrm>
            <a:off x="4847304" y="4171397"/>
            <a:ext cx="954208" cy="334707"/>
          </a:xfrm>
          <a:prstGeom prst="rect">
            <a:avLst/>
          </a:prstGeom>
          <a:noFill/>
        </p:spPr>
        <p:txBody>
          <a:bodyPr wrap="square" lIns="0" tIns="0" rIns="0" bIns="0" rtlCol="0">
            <a:spAutoFit/>
          </a:bodyPr>
          <a:lstStyle/>
          <a:p>
            <a:pPr algn="ctr">
              <a:lnSpc>
                <a:spcPct val="110000"/>
              </a:lnSpc>
            </a:pPr>
            <a:r>
              <a:rPr lang="en-US" sz="1000" b="1" dirty="0">
                <a:solidFill>
                  <a:srgbClr val="21314D"/>
                </a:solidFill>
                <a:latin typeface="Arial" panose="020B0604020202020204" pitchFamily="34" charset="0"/>
                <a:cs typeface="Arial" panose="020B0604020202020204" pitchFamily="34" charset="0"/>
              </a:rPr>
              <a:t>Colorado Red</a:t>
            </a:r>
          </a:p>
          <a:p>
            <a:pPr algn="ctr">
              <a:lnSpc>
                <a:spcPct val="110000"/>
              </a:lnSpc>
            </a:pPr>
            <a:r>
              <a:rPr lang="en-US" sz="1000" b="1" dirty="0">
                <a:solidFill>
                  <a:srgbClr val="21314D"/>
                </a:solidFill>
                <a:latin typeface="Arial" panose="020B0604020202020204" pitchFamily="34" charset="0"/>
                <a:cs typeface="Arial" panose="020B0604020202020204" pitchFamily="34" charset="0"/>
              </a:rPr>
              <a:t>#CC4628</a:t>
            </a:r>
          </a:p>
        </p:txBody>
      </p:sp>
      <p:sp>
        <p:nvSpPr>
          <p:cNvPr id="33" name="Rectangle 32">
            <a:extLst>
              <a:ext uri="{FF2B5EF4-FFF2-40B4-BE49-F238E27FC236}">
                <a16:creationId xmlns:a16="http://schemas.microsoft.com/office/drawing/2014/main" id="{04DFE4A0-6A0B-03EA-5AA0-30E9DEF0D170}"/>
              </a:ext>
            </a:extLst>
          </p:cNvPr>
          <p:cNvSpPr/>
          <p:nvPr/>
        </p:nvSpPr>
        <p:spPr>
          <a:xfrm>
            <a:off x="6374855" y="3289488"/>
            <a:ext cx="730331" cy="752461"/>
          </a:xfrm>
          <a:prstGeom prst="rect">
            <a:avLst/>
          </a:prstGeom>
          <a:solidFill>
            <a:srgbClr val="80848A"/>
          </a:solidFill>
          <a:ln>
            <a:noFill/>
          </a:ln>
        </p:spPr>
        <p:style>
          <a:lnRef idx="2">
            <a:schemeClr val="accent1">
              <a:shade val="50000"/>
            </a:schemeClr>
          </a:lnRef>
          <a:fillRef idx="1">
            <a:schemeClr val="accent1"/>
          </a:fillRef>
          <a:effectRef idx="0">
            <a:schemeClr val="accent1"/>
          </a:effectRef>
          <a:fontRef idx="minor">
            <a:schemeClr val="lt1"/>
          </a:fontRef>
        </p:style>
        <p:txBody>
          <a:bodyPr lIns="139959" tIns="69980" rIns="139959" bIns="69980" rtlCol="0" anchor="ctr"/>
          <a:lstStyle/>
          <a:p>
            <a:pPr algn="ctr"/>
            <a:endParaRPr lang="en-US" sz="2747">
              <a:solidFill>
                <a:srgbClr val="21314D"/>
              </a:solidFill>
              <a:latin typeface="+mj-lt"/>
            </a:endParaRPr>
          </a:p>
        </p:txBody>
      </p:sp>
      <p:sp>
        <p:nvSpPr>
          <p:cNvPr id="34" name="TextBox 33">
            <a:extLst>
              <a:ext uri="{FF2B5EF4-FFF2-40B4-BE49-F238E27FC236}">
                <a16:creationId xmlns:a16="http://schemas.microsoft.com/office/drawing/2014/main" id="{287173F4-92EB-ABA3-6670-60D88B4E9CCA}"/>
              </a:ext>
            </a:extLst>
          </p:cNvPr>
          <p:cNvSpPr txBox="1"/>
          <p:nvPr/>
        </p:nvSpPr>
        <p:spPr>
          <a:xfrm>
            <a:off x="6374856" y="4171396"/>
            <a:ext cx="730330" cy="334707"/>
          </a:xfrm>
          <a:prstGeom prst="rect">
            <a:avLst/>
          </a:prstGeom>
          <a:noFill/>
        </p:spPr>
        <p:txBody>
          <a:bodyPr wrap="square" lIns="0" tIns="0" rIns="0" bIns="0" rtlCol="0">
            <a:spAutoFit/>
          </a:bodyPr>
          <a:lstStyle/>
          <a:p>
            <a:pPr algn="ctr">
              <a:lnSpc>
                <a:spcPct val="110000"/>
              </a:lnSpc>
            </a:pPr>
            <a:r>
              <a:rPr lang="en-US" sz="1000" b="1" dirty="0">
                <a:solidFill>
                  <a:srgbClr val="21314D"/>
                </a:solidFill>
                <a:latin typeface="Arial" panose="020B0604020202020204" pitchFamily="34" charset="0"/>
                <a:cs typeface="Arial" panose="020B0604020202020204" pitchFamily="34" charset="0"/>
              </a:rPr>
              <a:t>Silver</a:t>
            </a:r>
          </a:p>
          <a:p>
            <a:pPr algn="ctr">
              <a:lnSpc>
                <a:spcPct val="110000"/>
              </a:lnSpc>
            </a:pPr>
            <a:r>
              <a:rPr lang="en-US" sz="1000" b="1" dirty="0">
                <a:solidFill>
                  <a:srgbClr val="21314D"/>
                </a:solidFill>
                <a:latin typeface="Arial" panose="020B0604020202020204" pitchFamily="34" charset="0"/>
                <a:cs typeface="Arial" panose="020B0604020202020204" pitchFamily="34" charset="0"/>
              </a:rPr>
              <a:t>#CFDCE9</a:t>
            </a:r>
          </a:p>
        </p:txBody>
      </p:sp>
      <p:sp>
        <p:nvSpPr>
          <p:cNvPr id="6" name="Text Placeholder 6">
            <a:extLst>
              <a:ext uri="{FF2B5EF4-FFF2-40B4-BE49-F238E27FC236}">
                <a16:creationId xmlns:a16="http://schemas.microsoft.com/office/drawing/2014/main" id="{1555B623-510B-3B2B-A7C1-3D92390D0ADB}"/>
              </a:ext>
            </a:extLst>
          </p:cNvPr>
          <p:cNvSpPr txBox="1">
            <a:spLocks/>
          </p:cNvSpPr>
          <p:nvPr/>
        </p:nvSpPr>
        <p:spPr>
          <a:xfrm>
            <a:off x="838200" y="4949824"/>
            <a:ext cx="11016343" cy="860979"/>
          </a:xfrm>
          <a:prstGeom prst="rect">
            <a:avLst/>
          </a:prstGeom>
        </p:spPr>
        <p:txBody>
          <a:bodyPr/>
          <a:lstStyle>
            <a:lvl1pPr marL="228594" indent="-228594" algn="l" defTabSz="914377" rtl="0" eaLnBrk="1" latinLnBrk="0" hangingPunct="1">
              <a:lnSpc>
                <a:spcPct val="90000"/>
              </a:lnSpc>
              <a:spcBef>
                <a:spcPts val="1000"/>
              </a:spcBef>
              <a:buFont typeface="Arial"/>
              <a:buChar char="•"/>
              <a:defRPr sz="2800" b="0" i="0" kern="1200">
                <a:solidFill>
                  <a:schemeClr val="tx1"/>
                </a:solidFill>
                <a:latin typeface="Arial" panose="020B0604020202020204" pitchFamily="34" charset="0"/>
                <a:ea typeface="Arial" panose="020B0604020202020204" pitchFamily="34" charset="0"/>
                <a:cs typeface="Arial" panose="020B0604020202020204" pitchFamily="34" charset="0"/>
              </a:defRPr>
            </a:lvl1pPr>
            <a:lvl2pPr marL="685783" indent="-228594" algn="l" defTabSz="914377" rtl="0" eaLnBrk="1" latinLnBrk="0" hangingPunct="1">
              <a:lnSpc>
                <a:spcPct val="90000"/>
              </a:lnSpc>
              <a:spcBef>
                <a:spcPts val="500"/>
              </a:spcBef>
              <a:buFont typeface="Arial"/>
              <a:buChar char="•"/>
              <a:defRPr sz="2400" b="0" i="0" kern="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2971" indent="-228594" algn="l" defTabSz="914377" rtl="0" eaLnBrk="1" latinLnBrk="0" hangingPunct="1">
              <a:lnSpc>
                <a:spcPct val="90000"/>
              </a:lnSpc>
              <a:spcBef>
                <a:spcPts val="500"/>
              </a:spcBef>
              <a:buFont typeface="Arial"/>
              <a:buChar char="•"/>
              <a:defRPr sz="2000" b="0" i="0" kern="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160" indent="-228594" algn="l" defTabSz="914377" rtl="0" eaLnBrk="1" latinLnBrk="0" hangingPunct="1">
              <a:lnSpc>
                <a:spcPct val="90000"/>
              </a:lnSpc>
              <a:spcBef>
                <a:spcPts val="500"/>
              </a:spcBef>
              <a:buFont typeface="Arial"/>
              <a:buChar char="•"/>
              <a:defRPr sz="1800" b="0" i="0" kern="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349" indent="-228594" algn="l" defTabSz="914377" rtl="0" eaLnBrk="1" latinLnBrk="0" hangingPunct="1">
              <a:lnSpc>
                <a:spcPct val="90000"/>
              </a:lnSpc>
              <a:spcBef>
                <a:spcPts val="500"/>
              </a:spcBef>
              <a:buFont typeface="Arial"/>
              <a:buChar char="•"/>
              <a:defRPr sz="1800" b="0" i="0" kern="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537"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tabLst>
                <a:tab pos="1941513" algn="l"/>
              </a:tabLst>
            </a:pPr>
            <a:r>
              <a:rPr lang="en-US" sz="2000" dirty="0"/>
              <a:t>It is recommended that Colorado Red only be used as an accent color, comprising of no more than 10 percent of the total color composition. Please do not use Colorado Red as a type color on a blue, gray or background of any color except white. </a:t>
            </a:r>
          </a:p>
        </p:txBody>
      </p:sp>
    </p:spTree>
    <p:extLst>
      <p:ext uri="{BB962C8B-B14F-4D97-AF65-F5344CB8AC3E}">
        <p14:creationId xmlns:p14="http://schemas.microsoft.com/office/powerpoint/2010/main" val="39635119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Typography</a:t>
            </a:r>
          </a:p>
        </p:txBody>
      </p:sp>
      <p:sp>
        <p:nvSpPr>
          <p:cNvPr id="13" name="TextBox 12"/>
          <p:cNvSpPr txBox="1"/>
          <p:nvPr/>
        </p:nvSpPr>
        <p:spPr>
          <a:xfrm>
            <a:off x="974878" y="1478671"/>
            <a:ext cx="10515600" cy="553998"/>
          </a:xfrm>
          <a:prstGeom prst="rect">
            <a:avLst/>
          </a:prstGeom>
          <a:noFill/>
        </p:spPr>
        <p:txBody>
          <a:bodyPr wrap="square" lIns="0" tIns="0" rIns="0" bIns="0" rtlCol="0">
            <a:spAutoFit/>
          </a:bodyPr>
          <a:lstStyle/>
          <a:p>
            <a:r>
              <a:rPr lang="en-US" b="0" dirty="0">
                <a:latin typeface="Arial" panose="020B0604020202020204" pitchFamily="34" charset="0"/>
                <a:cs typeface="Arial" panose="020B0604020202020204" pitchFamily="34" charset="0"/>
              </a:rPr>
              <a:t>These fonts can be downloaded from Adobe Font Kit or purchased online. These fonts may not be available to everyone, so substitutes have been outlined above.</a:t>
            </a:r>
          </a:p>
        </p:txBody>
      </p:sp>
      <p:pic>
        <p:nvPicPr>
          <p:cNvPr id="3" name="Picture 2" descr="Application&#10;&#10;Description automatically generated with low confidence">
            <a:extLst>
              <a:ext uri="{FF2B5EF4-FFF2-40B4-BE49-F238E27FC236}">
                <a16:creationId xmlns:a16="http://schemas.microsoft.com/office/drawing/2014/main" id="{9E006F12-8C6F-04EA-DD63-F3D1AA66547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974878" y="2525155"/>
            <a:ext cx="2996469" cy="2987147"/>
          </a:xfrm>
          <a:prstGeom prst="rect">
            <a:avLst/>
          </a:prstGeom>
        </p:spPr>
      </p:pic>
      <p:sp>
        <p:nvSpPr>
          <p:cNvPr id="4" name="Triangle 3">
            <a:extLst>
              <a:ext uri="{FF2B5EF4-FFF2-40B4-BE49-F238E27FC236}">
                <a16:creationId xmlns:a16="http://schemas.microsoft.com/office/drawing/2014/main" id="{0C34337C-A469-44E1-A7E5-3B3F207238B6}"/>
              </a:ext>
            </a:extLst>
          </p:cNvPr>
          <p:cNvSpPr/>
          <p:nvPr/>
        </p:nvSpPr>
        <p:spPr>
          <a:xfrm rot="5400000">
            <a:off x="4360049" y="2955605"/>
            <a:ext cx="204727" cy="176489"/>
          </a:xfrm>
          <a:prstGeom prst="triangle">
            <a:avLst/>
          </a:prstGeom>
          <a:solidFill>
            <a:srgbClr val="CC46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3AAFD5D-2AEB-AB54-053C-CBDC3ADB998A}"/>
              </a:ext>
            </a:extLst>
          </p:cNvPr>
          <p:cNvSpPr txBox="1"/>
          <p:nvPr/>
        </p:nvSpPr>
        <p:spPr>
          <a:xfrm>
            <a:off x="5025054" y="2614200"/>
            <a:ext cx="1426659" cy="830997"/>
          </a:xfrm>
          <a:prstGeom prst="rect">
            <a:avLst/>
          </a:prstGeom>
          <a:noFill/>
        </p:spPr>
        <p:txBody>
          <a:bodyPr wrap="square" rtlCol="0">
            <a:spAutoFit/>
          </a:bodyPr>
          <a:lstStyle/>
          <a:p>
            <a:r>
              <a:rPr lang="en-US" sz="4800" dirty="0">
                <a:solidFill>
                  <a:srgbClr val="183158"/>
                </a:solidFill>
              </a:rPr>
              <a:t>Arial</a:t>
            </a:r>
          </a:p>
        </p:txBody>
      </p:sp>
      <p:sp>
        <p:nvSpPr>
          <p:cNvPr id="6" name="TextBox 5">
            <a:extLst>
              <a:ext uri="{FF2B5EF4-FFF2-40B4-BE49-F238E27FC236}">
                <a16:creationId xmlns:a16="http://schemas.microsoft.com/office/drawing/2014/main" id="{A5AAA567-F47B-9785-4C10-E18ED3C0ADE3}"/>
              </a:ext>
            </a:extLst>
          </p:cNvPr>
          <p:cNvSpPr txBox="1"/>
          <p:nvPr/>
        </p:nvSpPr>
        <p:spPr>
          <a:xfrm>
            <a:off x="4953478" y="3839753"/>
            <a:ext cx="2996469" cy="769441"/>
          </a:xfrm>
          <a:prstGeom prst="rect">
            <a:avLst/>
          </a:prstGeom>
          <a:noFill/>
        </p:spPr>
        <p:txBody>
          <a:bodyPr wrap="square" rtlCol="0">
            <a:spAutoFit/>
          </a:bodyPr>
          <a:lstStyle/>
          <a:p>
            <a:r>
              <a:rPr lang="en-US" sz="4400" b="1" dirty="0">
                <a:solidFill>
                  <a:srgbClr val="183158"/>
                </a:solidFill>
                <a:latin typeface="Impact" charset="0"/>
                <a:ea typeface="Impact" charset="0"/>
                <a:cs typeface="Impact" charset="0"/>
              </a:rPr>
              <a:t>IMPACT</a:t>
            </a:r>
          </a:p>
        </p:txBody>
      </p:sp>
      <p:sp>
        <p:nvSpPr>
          <p:cNvPr id="7" name="Triangle 6">
            <a:extLst>
              <a:ext uri="{FF2B5EF4-FFF2-40B4-BE49-F238E27FC236}">
                <a16:creationId xmlns:a16="http://schemas.microsoft.com/office/drawing/2014/main" id="{9812827F-EBBB-B446-C1DD-2DE7030DD34F}"/>
              </a:ext>
            </a:extLst>
          </p:cNvPr>
          <p:cNvSpPr/>
          <p:nvPr/>
        </p:nvSpPr>
        <p:spPr>
          <a:xfrm rot="5400000">
            <a:off x="4360049" y="4107495"/>
            <a:ext cx="204727" cy="176489"/>
          </a:xfrm>
          <a:prstGeom prst="triangle">
            <a:avLst/>
          </a:prstGeom>
          <a:solidFill>
            <a:srgbClr val="CC46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riangle 8">
            <a:extLst>
              <a:ext uri="{FF2B5EF4-FFF2-40B4-BE49-F238E27FC236}">
                <a16:creationId xmlns:a16="http://schemas.microsoft.com/office/drawing/2014/main" id="{A9C92A98-C349-737A-FE24-7A14B3B145D4}"/>
              </a:ext>
            </a:extLst>
          </p:cNvPr>
          <p:cNvSpPr/>
          <p:nvPr/>
        </p:nvSpPr>
        <p:spPr>
          <a:xfrm rot="5400000">
            <a:off x="4360049" y="5199286"/>
            <a:ext cx="204727" cy="176489"/>
          </a:xfrm>
          <a:prstGeom prst="triangle">
            <a:avLst/>
          </a:prstGeom>
          <a:solidFill>
            <a:srgbClr val="CC46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AF5687C-A873-3C58-3A2E-62B2B1DF0931}"/>
              </a:ext>
            </a:extLst>
          </p:cNvPr>
          <p:cNvSpPr txBox="1"/>
          <p:nvPr/>
        </p:nvSpPr>
        <p:spPr>
          <a:xfrm>
            <a:off x="4865233" y="5056699"/>
            <a:ext cx="2749938" cy="461665"/>
          </a:xfrm>
          <a:prstGeom prst="rect">
            <a:avLst/>
          </a:prstGeom>
          <a:noFill/>
        </p:spPr>
        <p:txBody>
          <a:bodyPr wrap="square" rtlCol="0">
            <a:spAutoFit/>
          </a:bodyPr>
          <a:lstStyle/>
          <a:p>
            <a:r>
              <a:rPr lang="en-US" sz="2400" b="1" dirty="0">
                <a:solidFill>
                  <a:srgbClr val="183158"/>
                </a:solidFill>
                <a:latin typeface="Courier New" panose="02070309020205020404" pitchFamily="49" charset="0"/>
                <a:cs typeface="Courier New" panose="02070309020205020404" pitchFamily="49" charset="0"/>
              </a:rPr>
              <a:t>Courier New</a:t>
            </a:r>
          </a:p>
        </p:txBody>
      </p:sp>
    </p:spTree>
    <p:extLst>
      <p:ext uri="{BB962C8B-B14F-4D97-AF65-F5344CB8AC3E}">
        <p14:creationId xmlns:p14="http://schemas.microsoft.com/office/powerpoint/2010/main" val="7318883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4228</TotalTime>
  <Words>962</Words>
  <Application>Microsoft Office PowerPoint</Application>
  <PresentationFormat>Widescreen</PresentationFormat>
  <Paragraphs>100</Paragraphs>
  <Slides>22</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Arial</vt:lpstr>
      <vt:lpstr>Calibri</vt:lpstr>
      <vt:lpstr>Courier New</vt:lpstr>
      <vt:lpstr>Gotham Medium</vt:lpstr>
      <vt:lpstr>HalyardText</vt:lpstr>
      <vt:lpstr>HalyardTextBook</vt:lpstr>
      <vt:lpstr>Impact</vt:lpstr>
      <vt:lpstr>Lato</vt:lpstr>
      <vt:lpstr>Office Theme</vt:lpstr>
      <vt:lpstr>Colorado School of Mines Space Grant Robotics Team Preliminary Design Review</vt:lpstr>
      <vt:lpstr>Max Smith</vt:lpstr>
      <vt:lpstr>Presentation title goes here</vt:lpstr>
      <vt:lpstr>PowerPoint Presentation</vt:lpstr>
      <vt:lpstr>Colorado School of Mines</vt:lpstr>
      <vt:lpstr>Our community</vt:lpstr>
      <vt:lpstr>By the numbers</vt:lpstr>
      <vt:lpstr>Our hometown is Golden</vt:lpstr>
      <vt:lpstr>Solving the most critical challenges</vt:lpstr>
      <vt:lpstr>PowerPoint Presentation</vt:lpstr>
      <vt:lpstr>PowerPoint Presentation</vt:lpstr>
      <vt:lpstr>Click to add title</vt:lpstr>
      <vt:lpstr>PowerPoint Presentation</vt:lpstr>
      <vt:lpstr>PowerPoint Presentation</vt:lpstr>
      <vt:lpstr>PowerPoint Presentation</vt:lpstr>
      <vt:lpstr>PowerPoint Presentation</vt:lpstr>
      <vt:lpstr>PowerPoint Presentation</vt:lpstr>
      <vt:lpstr>PowerPoint Presentation</vt:lpstr>
      <vt:lpstr>Mines logos: Institutional mark</vt:lpstr>
      <vt:lpstr>Mines logos: Anniversary mark</vt:lpstr>
      <vt:lpstr>Mines color palette</vt:lpstr>
      <vt:lpstr>Typography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Microsoft Office User</dc:creator>
  <cp:keywords/>
  <dc:description/>
  <cp:lastModifiedBy>max smith</cp:lastModifiedBy>
  <cp:revision>61</cp:revision>
  <dcterms:created xsi:type="dcterms:W3CDTF">2017-08-01T15:06:47Z</dcterms:created>
  <dcterms:modified xsi:type="dcterms:W3CDTF">2025-10-30T01:25:10Z</dcterms:modified>
  <cp:category/>
</cp:coreProperties>
</file>